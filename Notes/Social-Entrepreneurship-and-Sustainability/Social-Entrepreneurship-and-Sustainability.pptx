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Unbounded"/>
      <p:regular r:id="rId17"/>
    </p:embeddedFont>
    <p:embeddedFont>
      <p:font typeface="Unbounded"/>
      <p:regular r:id="rId18"/>
    </p:embeddedFont>
    <p:embeddedFont>
      <p:font typeface="Open Sans"/>
      <p:regular r:id="rId19"/>
    </p:embeddedFont>
    <p:embeddedFont>
      <p:font typeface="Open Sans"/>
      <p:regular r:id="rId20"/>
    </p:embeddedFont>
    <p:embeddedFont>
      <p:font typeface="Open Sans"/>
      <p:regular r:id="rId21"/>
    </p:embeddedFont>
    <p:embeddedFont>
      <p:font typeface="Open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0.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63773"/>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Social Entrepreneurship and Sustainability</a:t>
            </a:r>
            <a:endParaRPr lang="en-US" sz="3900" dirty="0"/>
          </a:p>
        </p:txBody>
      </p:sp>
      <p:sp>
        <p:nvSpPr>
          <p:cNvPr id="4" name="Text 1"/>
          <p:cNvSpPr/>
          <p:nvPr/>
        </p:nvSpPr>
        <p:spPr>
          <a:xfrm>
            <a:off x="6280190" y="4101584"/>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An eight-week journey through the theory, tools, and practice of building ventures that create lasting social and environmental value — from founding principles to scaling impact.</a:t>
            </a:r>
            <a:endParaRPr lang="en-US" sz="1550" dirty="0"/>
          </a:p>
        </p:txBody>
      </p:sp>
      <p:sp>
        <p:nvSpPr>
          <p:cNvPr id="5" name="Shape 2"/>
          <p:cNvSpPr/>
          <p:nvPr/>
        </p:nvSpPr>
        <p:spPr>
          <a:xfrm>
            <a:off x="6280190" y="5285065"/>
            <a:ext cx="1712238" cy="373142"/>
          </a:xfrm>
          <a:prstGeom prst="roundRect">
            <a:avLst>
              <a:gd name="adj" fmla="val 17872"/>
            </a:avLst>
          </a:prstGeom>
          <a:solidFill>
            <a:srgbClr val="D6F5EE"/>
          </a:solidFill>
          <a:ln/>
        </p:spPr>
      </p:sp>
      <p:sp>
        <p:nvSpPr>
          <p:cNvPr id="6" name="Text 3"/>
          <p:cNvSpPr/>
          <p:nvPr/>
        </p:nvSpPr>
        <p:spPr>
          <a:xfrm>
            <a:off x="6399252" y="5344597"/>
            <a:ext cx="1474113" cy="254079"/>
          </a:xfrm>
          <a:prstGeom prst="rect">
            <a:avLst/>
          </a:prstGeom>
          <a:noFill/>
          <a:ln/>
        </p:spPr>
        <p:txBody>
          <a:bodyPr wrap="none" lIns="0" tIns="0" rIns="0" bIns="0" rtlCol="0" anchor="t"/>
          <a:lstStyle/>
          <a:p>
            <a:pPr algn="l" indent="0" marL="0">
              <a:lnSpc>
                <a:spcPts val="2000"/>
              </a:lnSpc>
              <a:buNone/>
            </a:pPr>
            <a:r>
              <a:rPr lang="en-US" sz="1250" dirty="0">
                <a:solidFill>
                  <a:srgbClr val="333F70"/>
                </a:solidFill>
                <a:latin typeface="Open Sans" pitchFamily="34" charset="0"/>
                <a:ea typeface="Open Sans" pitchFamily="34" charset="-122"/>
                <a:cs typeface="Open Sans" pitchFamily="34" charset="-120"/>
              </a:rPr>
              <a:t>GRADUATE COURSE</a:t>
            </a:r>
            <a:endParaRPr lang="en-US" sz="1250" dirty="0"/>
          </a:p>
        </p:txBody>
      </p:sp>
      <p:sp>
        <p:nvSpPr>
          <p:cNvPr id="7" name="Shape 4"/>
          <p:cNvSpPr/>
          <p:nvPr/>
        </p:nvSpPr>
        <p:spPr>
          <a:xfrm>
            <a:off x="8091607" y="5277445"/>
            <a:ext cx="892493" cy="388382"/>
          </a:xfrm>
          <a:prstGeom prst="roundRect">
            <a:avLst>
              <a:gd name="adj" fmla="val 17171"/>
            </a:avLst>
          </a:prstGeom>
          <a:noFill/>
          <a:ln w="7620">
            <a:solidFill>
              <a:srgbClr val="26A688"/>
            </a:solidFill>
            <a:prstDash val="solid"/>
          </a:ln>
        </p:spPr>
      </p:sp>
      <p:sp>
        <p:nvSpPr>
          <p:cNvPr id="8" name="Text 5"/>
          <p:cNvSpPr/>
          <p:nvPr/>
        </p:nvSpPr>
        <p:spPr>
          <a:xfrm>
            <a:off x="8218289" y="5344597"/>
            <a:ext cx="639127" cy="254079"/>
          </a:xfrm>
          <a:prstGeom prst="rect">
            <a:avLst/>
          </a:prstGeom>
          <a:noFill/>
          <a:ln/>
        </p:spPr>
        <p:txBody>
          <a:bodyPr wrap="none" lIns="0" tIns="0" rIns="0" bIns="0" rtlCol="0" anchor="t"/>
          <a:lstStyle/>
          <a:p>
            <a:pPr algn="l" indent="0" marL="0">
              <a:lnSpc>
                <a:spcPts val="2000"/>
              </a:lnSpc>
              <a:buNone/>
            </a:pPr>
            <a:r>
              <a:rPr lang="en-US" sz="1250" dirty="0">
                <a:solidFill>
                  <a:srgbClr val="26A688"/>
                </a:solidFill>
                <a:latin typeface="Open Sans" pitchFamily="34" charset="0"/>
                <a:ea typeface="Open Sans" pitchFamily="34" charset="-122"/>
                <a:cs typeface="Open Sans" pitchFamily="34" charset="-120"/>
              </a:rPr>
              <a:t>8 WEEKS</a:t>
            </a:r>
            <a:endParaRPr lang="en-US" sz="1250" dirty="0"/>
          </a:p>
        </p:txBody>
      </p:sp>
      <p:sp>
        <p:nvSpPr>
          <p:cNvPr id="9" name="Shape 6"/>
          <p:cNvSpPr/>
          <p:nvPr/>
        </p:nvSpPr>
        <p:spPr>
          <a:xfrm>
            <a:off x="9083278" y="5277445"/>
            <a:ext cx="1180505" cy="388382"/>
          </a:xfrm>
          <a:prstGeom prst="roundRect">
            <a:avLst>
              <a:gd name="adj" fmla="val 17171"/>
            </a:avLst>
          </a:prstGeom>
          <a:noFill/>
          <a:ln w="7620">
            <a:solidFill>
              <a:srgbClr val="26A688"/>
            </a:solidFill>
            <a:prstDash val="solid"/>
          </a:ln>
        </p:spPr>
      </p:sp>
      <p:sp>
        <p:nvSpPr>
          <p:cNvPr id="10" name="Text 7"/>
          <p:cNvSpPr/>
          <p:nvPr/>
        </p:nvSpPr>
        <p:spPr>
          <a:xfrm>
            <a:off x="9209961" y="5344597"/>
            <a:ext cx="927140" cy="254079"/>
          </a:xfrm>
          <a:prstGeom prst="rect">
            <a:avLst/>
          </a:prstGeom>
          <a:noFill/>
          <a:ln/>
        </p:spPr>
        <p:txBody>
          <a:bodyPr wrap="none" lIns="0" tIns="0" rIns="0" bIns="0" rtlCol="0" anchor="t"/>
          <a:lstStyle/>
          <a:p>
            <a:pPr algn="l" indent="0" marL="0">
              <a:lnSpc>
                <a:spcPts val="2000"/>
              </a:lnSpc>
              <a:buNone/>
            </a:pPr>
            <a:r>
              <a:rPr lang="en-US" sz="1250" dirty="0">
                <a:solidFill>
                  <a:srgbClr val="26A688"/>
                </a:solidFill>
                <a:latin typeface="Open Sans" pitchFamily="34" charset="0"/>
                <a:ea typeface="Open Sans" pitchFamily="34" charset="-122"/>
                <a:cs typeface="Open Sans" pitchFamily="34" charset="-120"/>
              </a:rPr>
              <a:t>EXAM: 75/25</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057400" y="465415"/>
            <a:ext cx="3556516" cy="416719"/>
          </a:xfrm>
          <a:prstGeom prst="rect">
            <a:avLst/>
          </a:prstGeom>
          <a:noFill/>
          <a:ln/>
        </p:spPr>
        <p:txBody>
          <a:bodyPr wrap="none" lIns="0" tIns="0" rIns="0" bIns="0" rtlCol="0" anchor="t"/>
          <a:lstStyle/>
          <a:p>
            <a:pPr algn="l" indent="0" marL="0">
              <a:lnSpc>
                <a:spcPts val="3250"/>
              </a:lnSpc>
              <a:buNone/>
            </a:pPr>
            <a:r>
              <a:rPr lang="en-US" sz="2600" b="1" dirty="0">
                <a:solidFill>
                  <a:srgbClr val="333F70"/>
                </a:solidFill>
                <a:latin typeface="Unbounded Bold" pitchFamily="34" charset="0"/>
                <a:ea typeface="Unbounded Bold" pitchFamily="34" charset="-122"/>
                <a:cs typeface="Unbounded Bold" pitchFamily="34" charset="-120"/>
              </a:rPr>
              <a:t>Course Overview</a:t>
            </a:r>
            <a:endParaRPr lang="en-US" sz="2600" dirty="0"/>
          </a:p>
        </p:txBody>
      </p:sp>
      <p:sp>
        <p:nvSpPr>
          <p:cNvPr id="3" name="Text 1"/>
          <p:cNvSpPr/>
          <p:nvPr/>
        </p:nvSpPr>
        <p:spPr>
          <a:xfrm>
            <a:off x="2057400" y="1061323"/>
            <a:ext cx="10515600" cy="356711"/>
          </a:xfrm>
          <a:prstGeom prst="rect">
            <a:avLst/>
          </a:prstGeom>
          <a:noFill/>
          <a:ln/>
        </p:spPr>
        <p:txBody>
          <a:bodyPr wrap="square" lIns="0" tIns="0" rIns="0" bIns="0" rtlCol="0" anchor="t"/>
          <a:lstStyle/>
          <a:p>
            <a:pPr algn="l" indent="0" marL="0">
              <a:lnSpc>
                <a:spcPts val="1400"/>
              </a:lnSpc>
              <a:buNone/>
            </a:pPr>
            <a:r>
              <a:rPr lang="en-US" sz="1050" dirty="0">
                <a:solidFill>
                  <a:srgbClr val="333F70"/>
                </a:solidFill>
                <a:latin typeface="Open Sans" pitchFamily="34" charset="0"/>
                <a:ea typeface="Open Sans" pitchFamily="34" charset="-122"/>
                <a:cs typeface="Open Sans" pitchFamily="34" charset="-120"/>
              </a:rPr>
              <a:t>This course is structured as a progressive learning arc — each week builds on the last, moving from foundational concepts to advanced implementation skills. Below is the full eight-week roadmap.</a:t>
            </a:r>
            <a:endParaRPr lang="en-US" sz="1050" dirty="0"/>
          </a:p>
        </p:txBody>
      </p:sp>
      <p:sp>
        <p:nvSpPr>
          <p:cNvPr id="4" name="Shape 2"/>
          <p:cNvSpPr/>
          <p:nvPr/>
        </p:nvSpPr>
        <p:spPr>
          <a:xfrm>
            <a:off x="7307580" y="1518761"/>
            <a:ext cx="15240" cy="5517713"/>
          </a:xfrm>
          <a:prstGeom prst="roundRect">
            <a:avLst>
              <a:gd name="adj" fmla="val 367500"/>
            </a:avLst>
          </a:prstGeom>
          <a:solidFill>
            <a:srgbClr val="BCDBD4"/>
          </a:solidFill>
          <a:ln/>
        </p:spPr>
      </p:sp>
      <p:sp>
        <p:nvSpPr>
          <p:cNvPr id="5" name="Shape 3"/>
          <p:cNvSpPr/>
          <p:nvPr/>
        </p:nvSpPr>
        <p:spPr>
          <a:xfrm>
            <a:off x="6930390" y="2044541"/>
            <a:ext cx="400050" cy="15240"/>
          </a:xfrm>
          <a:prstGeom prst="roundRect">
            <a:avLst>
              <a:gd name="adj" fmla="val 367500"/>
            </a:avLst>
          </a:prstGeom>
          <a:solidFill>
            <a:srgbClr val="BCDBD4"/>
          </a:solidFill>
          <a:ln/>
        </p:spPr>
      </p:sp>
      <p:sp>
        <p:nvSpPr>
          <p:cNvPr id="6" name="Shape 4"/>
          <p:cNvSpPr/>
          <p:nvPr/>
        </p:nvSpPr>
        <p:spPr>
          <a:xfrm>
            <a:off x="7265194" y="2002155"/>
            <a:ext cx="100013" cy="100012"/>
          </a:xfrm>
          <a:prstGeom prst="roundRect">
            <a:avLst>
              <a:gd name="adj" fmla="val 457145"/>
            </a:avLst>
          </a:prstGeom>
          <a:solidFill>
            <a:srgbClr val="26A688"/>
          </a:solidFill>
          <a:ln/>
        </p:spPr>
      </p:sp>
      <p:sp>
        <p:nvSpPr>
          <p:cNvPr id="7" name="Shape 5"/>
          <p:cNvSpPr/>
          <p:nvPr/>
        </p:nvSpPr>
        <p:spPr>
          <a:xfrm>
            <a:off x="2057400" y="1518761"/>
            <a:ext cx="4857750" cy="1066800"/>
          </a:xfrm>
          <a:prstGeom prst="roundRect">
            <a:avLst>
              <a:gd name="adj" fmla="val 5250"/>
            </a:avLst>
          </a:prstGeom>
          <a:solidFill>
            <a:srgbClr val="D6F5EE"/>
          </a:solidFill>
          <a:ln w="7620">
            <a:solidFill>
              <a:srgbClr val="BCDBD4"/>
            </a:solidFill>
            <a:prstDash val="solid"/>
          </a:ln>
        </p:spPr>
      </p:sp>
      <p:sp>
        <p:nvSpPr>
          <p:cNvPr id="8" name="Text 6"/>
          <p:cNvSpPr/>
          <p:nvPr/>
        </p:nvSpPr>
        <p:spPr>
          <a:xfrm>
            <a:off x="5107305" y="1659731"/>
            <a:ext cx="1666875" cy="208359"/>
          </a:xfrm>
          <a:prstGeom prst="rect">
            <a:avLst/>
          </a:prstGeom>
          <a:noFill/>
          <a:ln/>
        </p:spPr>
        <p:txBody>
          <a:bodyPr wrap="none" lIns="0" tIns="0" rIns="0" bIns="0" rtlCol="0" anchor="t"/>
          <a:lstStyle/>
          <a:p>
            <a:pPr algn="r"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1</a:t>
            </a:r>
            <a:endParaRPr lang="en-US" sz="1300" dirty="0"/>
          </a:p>
        </p:txBody>
      </p:sp>
      <p:sp>
        <p:nvSpPr>
          <p:cNvPr id="9" name="Text 7"/>
          <p:cNvSpPr/>
          <p:nvPr/>
        </p:nvSpPr>
        <p:spPr>
          <a:xfrm>
            <a:off x="2198370" y="1921788"/>
            <a:ext cx="4575810" cy="178356"/>
          </a:xfrm>
          <a:prstGeom prst="rect">
            <a:avLst/>
          </a:prstGeom>
          <a:noFill/>
          <a:ln/>
        </p:spPr>
        <p:txBody>
          <a:bodyPr wrap="none" lIns="0" tIns="0" rIns="0" bIns="0" rtlCol="0" anchor="t"/>
          <a:lstStyle/>
          <a:p>
            <a:pPr algn="r" indent="0" marL="0">
              <a:lnSpc>
                <a:spcPts val="1400"/>
              </a:lnSpc>
              <a:buNone/>
            </a:pPr>
            <a:r>
              <a:rPr lang="en-US" sz="1050" dirty="0">
                <a:solidFill>
                  <a:srgbClr val="333F70"/>
                </a:solidFill>
                <a:latin typeface="Open Sans" pitchFamily="34" charset="0"/>
                <a:ea typeface="Open Sans" pitchFamily="34" charset="-122"/>
                <a:cs typeface="Open Sans" pitchFamily="34" charset="-120"/>
              </a:rPr>
              <a:t>Foundations of Social Entrepreneurship</a:t>
            </a:r>
            <a:endParaRPr lang="en-US" sz="1050" dirty="0"/>
          </a:p>
        </p:txBody>
      </p:sp>
      <p:sp>
        <p:nvSpPr>
          <p:cNvPr id="10" name="Shape 8"/>
          <p:cNvSpPr/>
          <p:nvPr/>
        </p:nvSpPr>
        <p:spPr>
          <a:xfrm>
            <a:off x="7299960" y="2757130"/>
            <a:ext cx="400050" cy="15240"/>
          </a:xfrm>
          <a:prstGeom prst="roundRect">
            <a:avLst>
              <a:gd name="adj" fmla="val 367500"/>
            </a:avLst>
          </a:prstGeom>
          <a:solidFill>
            <a:srgbClr val="BCDBD4"/>
          </a:solidFill>
          <a:ln/>
        </p:spPr>
      </p:sp>
      <p:sp>
        <p:nvSpPr>
          <p:cNvPr id="11" name="Shape 9"/>
          <p:cNvSpPr/>
          <p:nvPr/>
        </p:nvSpPr>
        <p:spPr>
          <a:xfrm>
            <a:off x="7265194" y="2714744"/>
            <a:ext cx="100013" cy="100012"/>
          </a:xfrm>
          <a:prstGeom prst="roundRect">
            <a:avLst>
              <a:gd name="adj" fmla="val 457145"/>
            </a:avLst>
          </a:prstGeom>
          <a:solidFill>
            <a:srgbClr val="26A688"/>
          </a:solidFill>
          <a:ln/>
        </p:spPr>
      </p:sp>
      <p:sp>
        <p:nvSpPr>
          <p:cNvPr id="12" name="Shape 10"/>
          <p:cNvSpPr/>
          <p:nvPr/>
        </p:nvSpPr>
        <p:spPr>
          <a:xfrm>
            <a:off x="7715250" y="2231350"/>
            <a:ext cx="4857750" cy="1066800"/>
          </a:xfrm>
          <a:prstGeom prst="roundRect">
            <a:avLst>
              <a:gd name="adj" fmla="val 5250"/>
            </a:avLst>
          </a:prstGeom>
          <a:solidFill>
            <a:srgbClr val="D6F5EE"/>
          </a:solidFill>
          <a:ln w="7620">
            <a:solidFill>
              <a:srgbClr val="BCDBD4"/>
            </a:solidFill>
            <a:prstDash val="solid"/>
          </a:ln>
        </p:spPr>
      </p:sp>
      <p:sp>
        <p:nvSpPr>
          <p:cNvPr id="13" name="Text 11"/>
          <p:cNvSpPr/>
          <p:nvPr/>
        </p:nvSpPr>
        <p:spPr>
          <a:xfrm>
            <a:off x="7856220" y="2372320"/>
            <a:ext cx="1666875" cy="208359"/>
          </a:xfrm>
          <a:prstGeom prst="rect">
            <a:avLst/>
          </a:prstGeom>
          <a:noFill/>
          <a:ln/>
        </p:spPr>
        <p:txBody>
          <a:bodyPr wrap="none" lIns="0" tIns="0" rIns="0" bIns="0" rtlCol="0" anchor="t"/>
          <a:lstStyle/>
          <a:p>
            <a:pPr algn="l"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2</a:t>
            </a:r>
            <a:endParaRPr lang="en-US" sz="1300" dirty="0"/>
          </a:p>
        </p:txBody>
      </p:sp>
      <p:sp>
        <p:nvSpPr>
          <p:cNvPr id="14" name="Text 12"/>
          <p:cNvSpPr/>
          <p:nvPr/>
        </p:nvSpPr>
        <p:spPr>
          <a:xfrm>
            <a:off x="7856220" y="2634377"/>
            <a:ext cx="4575810" cy="178356"/>
          </a:xfrm>
          <a:prstGeom prst="rect">
            <a:avLst/>
          </a:prstGeom>
          <a:noFill/>
          <a:ln/>
        </p:spPr>
        <p:txBody>
          <a:bodyPr wrap="none" lIns="0" tIns="0" rIns="0" bIns="0" rtlCol="0" anchor="t"/>
          <a:lstStyle/>
          <a:p>
            <a:pPr algn="l" indent="0" marL="0">
              <a:lnSpc>
                <a:spcPts val="1400"/>
              </a:lnSpc>
              <a:buNone/>
            </a:pPr>
            <a:r>
              <a:rPr lang="en-US" sz="1050" dirty="0">
                <a:solidFill>
                  <a:srgbClr val="333F70"/>
                </a:solidFill>
                <a:latin typeface="Open Sans" pitchFamily="34" charset="0"/>
                <a:ea typeface="Open Sans" pitchFamily="34" charset="-122"/>
                <a:cs typeface="Open Sans" pitchFamily="34" charset="-120"/>
              </a:rPr>
              <a:t>Sustainability &amp; the Triple Bottom Line</a:t>
            </a:r>
            <a:endParaRPr lang="en-US" sz="1050" dirty="0"/>
          </a:p>
        </p:txBody>
      </p:sp>
      <p:sp>
        <p:nvSpPr>
          <p:cNvPr id="15" name="Shape 13"/>
          <p:cNvSpPr/>
          <p:nvPr/>
        </p:nvSpPr>
        <p:spPr>
          <a:xfrm>
            <a:off x="6930390" y="3380065"/>
            <a:ext cx="400050" cy="15240"/>
          </a:xfrm>
          <a:prstGeom prst="roundRect">
            <a:avLst>
              <a:gd name="adj" fmla="val 367500"/>
            </a:avLst>
          </a:prstGeom>
          <a:solidFill>
            <a:srgbClr val="BCDBD4"/>
          </a:solidFill>
          <a:ln/>
        </p:spPr>
      </p:sp>
      <p:sp>
        <p:nvSpPr>
          <p:cNvPr id="16" name="Shape 14"/>
          <p:cNvSpPr/>
          <p:nvPr/>
        </p:nvSpPr>
        <p:spPr>
          <a:xfrm>
            <a:off x="7265194" y="3337679"/>
            <a:ext cx="100013" cy="100012"/>
          </a:xfrm>
          <a:prstGeom prst="roundRect">
            <a:avLst>
              <a:gd name="adj" fmla="val 457145"/>
            </a:avLst>
          </a:prstGeom>
          <a:solidFill>
            <a:srgbClr val="26A688"/>
          </a:solidFill>
          <a:ln/>
        </p:spPr>
      </p:sp>
      <p:sp>
        <p:nvSpPr>
          <p:cNvPr id="17" name="Shape 15"/>
          <p:cNvSpPr/>
          <p:nvPr/>
        </p:nvSpPr>
        <p:spPr>
          <a:xfrm>
            <a:off x="2057400" y="2854285"/>
            <a:ext cx="4857750" cy="1066800"/>
          </a:xfrm>
          <a:prstGeom prst="roundRect">
            <a:avLst>
              <a:gd name="adj" fmla="val 5250"/>
            </a:avLst>
          </a:prstGeom>
          <a:solidFill>
            <a:srgbClr val="D6F5EE"/>
          </a:solidFill>
          <a:ln w="7620">
            <a:solidFill>
              <a:srgbClr val="BCDBD4"/>
            </a:solidFill>
            <a:prstDash val="solid"/>
          </a:ln>
        </p:spPr>
      </p:sp>
      <p:sp>
        <p:nvSpPr>
          <p:cNvPr id="18" name="Text 16"/>
          <p:cNvSpPr/>
          <p:nvPr/>
        </p:nvSpPr>
        <p:spPr>
          <a:xfrm>
            <a:off x="5107305" y="2995255"/>
            <a:ext cx="1666875" cy="208359"/>
          </a:xfrm>
          <a:prstGeom prst="rect">
            <a:avLst/>
          </a:prstGeom>
          <a:noFill/>
          <a:ln/>
        </p:spPr>
        <p:txBody>
          <a:bodyPr wrap="none" lIns="0" tIns="0" rIns="0" bIns="0" rtlCol="0" anchor="t"/>
          <a:lstStyle/>
          <a:p>
            <a:pPr algn="r"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3</a:t>
            </a:r>
            <a:endParaRPr lang="en-US" sz="1300" dirty="0"/>
          </a:p>
        </p:txBody>
      </p:sp>
      <p:sp>
        <p:nvSpPr>
          <p:cNvPr id="19" name="Text 17"/>
          <p:cNvSpPr/>
          <p:nvPr/>
        </p:nvSpPr>
        <p:spPr>
          <a:xfrm>
            <a:off x="2198370" y="3257312"/>
            <a:ext cx="4575810" cy="178356"/>
          </a:xfrm>
          <a:prstGeom prst="rect">
            <a:avLst/>
          </a:prstGeom>
          <a:noFill/>
          <a:ln/>
        </p:spPr>
        <p:txBody>
          <a:bodyPr wrap="none" lIns="0" tIns="0" rIns="0" bIns="0" rtlCol="0" anchor="t"/>
          <a:lstStyle/>
          <a:p>
            <a:pPr algn="r" indent="0" marL="0">
              <a:lnSpc>
                <a:spcPts val="1400"/>
              </a:lnSpc>
              <a:buNone/>
            </a:pPr>
            <a:r>
              <a:rPr lang="en-US" sz="1050" dirty="0">
                <a:solidFill>
                  <a:srgbClr val="333F70"/>
                </a:solidFill>
                <a:latin typeface="Open Sans" pitchFamily="34" charset="0"/>
                <a:ea typeface="Open Sans" pitchFamily="34" charset="-122"/>
                <a:cs typeface="Open Sans" pitchFamily="34" charset="-120"/>
              </a:rPr>
              <a:t>Innovation &amp; Business Models</a:t>
            </a:r>
            <a:endParaRPr lang="en-US" sz="1050" dirty="0"/>
          </a:p>
        </p:txBody>
      </p:sp>
      <p:sp>
        <p:nvSpPr>
          <p:cNvPr id="20" name="Shape 18"/>
          <p:cNvSpPr/>
          <p:nvPr/>
        </p:nvSpPr>
        <p:spPr>
          <a:xfrm>
            <a:off x="7299960" y="4003119"/>
            <a:ext cx="400050" cy="15240"/>
          </a:xfrm>
          <a:prstGeom prst="roundRect">
            <a:avLst>
              <a:gd name="adj" fmla="val 367500"/>
            </a:avLst>
          </a:prstGeom>
          <a:solidFill>
            <a:srgbClr val="BCDBD4"/>
          </a:solidFill>
          <a:ln/>
        </p:spPr>
      </p:sp>
      <p:sp>
        <p:nvSpPr>
          <p:cNvPr id="21" name="Shape 19"/>
          <p:cNvSpPr/>
          <p:nvPr/>
        </p:nvSpPr>
        <p:spPr>
          <a:xfrm>
            <a:off x="7265194" y="3960733"/>
            <a:ext cx="100013" cy="100012"/>
          </a:xfrm>
          <a:prstGeom prst="roundRect">
            <a:avLst>
              <a:gd name="adj" fmla="val 457145"/>
            </a:avLst>
          </a:prstGeom>
          <a:solidFill>
            <a:srgbClr val="26A688"/>
          </a:solidFill>
          <a:ln/>
        </p:spPr>
      </p:sp>
      <p:sp>
        <p:nvSpPr>
          <p:cNvPr id="22" name="Shape 20"/>
          <p:cNvSpPr/>
          <p:nvPr/>
        </p:nvSpPr>
        <p:spPr>
          <a:xfrm>
            <a:off x="7715250" y="3477339"/>
            <a:ext cx="4857750" cy="1066800"/>
          </a:xfrm>
          <a:prstGeom prst="roundRect">
            <a:avLst>
              <a:gd name="adj" fmla="val 5250"/>
            </a:avLst>
          </a:prstGeom>
          <a:solidFill>
            <a:srgbClr val="D6F5EE"/>
          </a:solidFill>
          <a:ln w="7620">
            <a:solidFill>
              <a:srgbClr val="BCDBD4"/>
            </a:solidFill>
            <a:prstDash val="solid"/>
          </a:ln>
        </p:spPr>
      </p:sp>
      <p:sp>
        <p:nvSpPr>
          <p:cNvPr id="23" name="Text 21"/>
          <p:cNvSpPr/>
          <p:nvPr/>
        </p:nvSpPr>
        <p:spPr>
          <a:xfrm>
            <a:off x="7856220" y="3618309"/>
            <a:ext cx="1666875" cy="208359"/>
          </a:xfrm>
          <a:prstGeom prst="rect">
            <a:avLst/>
          </a:prstGeom>
          <a:noFill/>
          <a:ln/>
        </p:spPr>
        <p:txBody>
          <a:bodyPr wrap="none" lIns="0" tIns="0" rIns="0" bIns="0" rtlCol="0" anchor="t"/>
          <a:lstStyle/>
          <a:p>
            <a:pPr algn="l"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4</a:t>
            </a:r>
            <a:endParaRPr lang="en-US" sz="1300" dirty="0"/>
          </a:p>
        </p:txBody>
      </p:sp>
      <p:sp>
        <p:nvSpPr>
          <p:cNvPr id="24" name="Text 22"/>
          <p:cNvSpPr/>
          <p:nvPr/>
        </p:nvSpPr>
        <p:spPr>
          <a:xfrm>
            <a:off x="7856220" y="3880366"/>
            <a:ext cx="4575810" cy="178356"/>
          </a:xfrm>
          <a:prstGeom prst="rect">
            <a:avLst/>
          </a:prstGeom>
          <a:noFill/>
          <a:ln/>
        </p:spPr>
        <p:txBody>
          <a:bodyPr wrap="none" lIns="0" tIns="0" rIns="0" bIns="0" rtlCol="0" anchor="t"/>
          <a:lstStyle/>
          <a:p>
            <a:pPr algn="l" indent="0" marL="0">
              <a:lnSpc>
                <a:spcPts val="1400"/>
              </a:lnSpc>
              <a:buNone/>
            </a:pPr>
            <a:r>
              <a:rPr lang="en-US" sz="1050" dirty="0">
                <a:solidFill>
                  <a:srgbClr val="333F70"/>
                </a:solidFill>
                <a:latin typeface="Open Sans" pitchFamily="34" charset="0"/>
                <a:ea typeface="Open Sans" pitchFamily="34" charset="-122"/>
                <a:cs typeface="Open Sans" pitchFamily="34" charset="-120"/>
              </a:rPr>
              <a:t>Social Entrepreneurship &amp; the SDGs</a:t>
            </a:r>
            <a:endParaRPr lang="en-US" sz="1050" dirty="0"/>
          </a:p>
        </p:txBody>
      </p:sp>
      <p:sp>
        <p:nvSpPr>
          <p:cNvPr id="25" name="Shape 23"/>
          <p:cNvSpPr/>
          <p:nvPr/>
        </p:nvSpPr>
        <p:spPr>
          <a:xfrm>
            <a:off x="6930390" y="4626173"/>
            <a:ext cx="400050" cy="15240"/>
          </a:xfrm>
          <a:prstGeom prst="roundRect">
            <a:avLst>
              <a:gd name="adj" fmla="val 367500"/>
            </a:avLst>
          </a:prstGeom>
          <a:solidFill>
            <a:srgbClr val="BCDBD4"/>
          </a:solidFill>
          <a:ln/>
        </p:spPr>
      </p:sp>
      <p:sp>
        <p:nvSpPr>
          <p:cNvPr id="26" name="Shape 24"/>
          <p:cNvSpPr/>
          <p:nvPr/>
        </p:nvSpPr>
        <p:spPr>
          <a:xfrm>
            <a:off x="7265194" y="4583787"/>
            <a:ext cx="100013" cy="100012"/>
          </a:xfrm>
          <a:prstGeom prst="roundRect">
            <a:avLst>
              <a:gd name="adj" fmla="val 457145"/>
            </a:avLst>
          </a:prstGeom>
          <a:solidFill>
            <a:srgbClr val="26A688"/>
          </a:solidFill>
          <a:ln/>
        </p:spPr>
      </p:sp>
      <p:sp>
        <p:nvSpPr>
          <p:cNvPr id="27" name="Shape 25"/>
          <p:cNvSpPr/>
          <p:nvPr/>
        </p:nvSpPr>
        <p:spPr>
          <a:xfrm>
            <a:off x="2057400" y="4100393"/>
            <a:ext cx="4857750" cy="1066800"/>
          </a:xfrm>
          <a:prstGeom prst="roundRect">
            <a:avLst>
              <a:gd name="adj" fmla="val 5250"/>
            </a:avLst>
          </a:prstGeom>
          <a:solidFill>
            <a:srgbClr val="D6F5EE"/>
          </a:solidFill>
          <a:ln w="7620">
            <a:solidFill>
              <a:srgbClr val="BCDBD4"/>
            </a:solidFill>
            <a:prstDash val="solid"/>
          </a:ln>
        </p:spPr>
      </p:sp>
      <p:sp>
        <p:nvSpPr>
          <p:cNvPr id="28" name="Text 26"/>
          <p:cNvSpPr/>
          <p:nvPr/>
        </p:nvSpPr>
        <p:spPr>
          <a:xfrm>
            <a:off x="5107305" y="4241363"/>
            <a:ext cx="1666875" cy="208359"/>
          </a:xfrm>
          <a:prstGeom prst="rect">
            <a:avLst/>
          </a:prstGeom>
          <a:noFill/>
          <a:ln/>
        </p:spPr>
        <p:txBody>
          <a:bodyPr wrap="none" lIns="0" tIns="0" rIns="0" bIns="0" rtlCol="0" anchor="t"/>
          <a:lstStyle/>
          <a:p>
            <a:pPr algn="r"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5</a:t>
            </a:r>
            <a:endParaRPr lang="en-US" sz="1300" dirty="0"/>
          </a:p>
        </p:txBody>
      </p:sp>
      <p:sp>
        <p:nvSpPr>
          <p:cNvPr id="29" name="Text 27"/>
          <p:cNvSpPr/>
          <p:nvPr/>
        </p:nvSpPr>
        <p:spPr>
          <a:xfrm>
            <a:off x="2198370" y="4503420"/>
            <a:ext cx="4575810" cy="178356"/>
          </a:xfrm>
          <a:prstGeom prst="rect">
            <a:avLst/>
          </a:prstGeom>
          <a:noFill/>
          <a:ln/>
        </p:spPr>
        <p:txBody>
          <a:bodyPr wrap="none" lIns="0" tIns="0" rIns="0" bIns="0" rtlCol="0" anchor="t"/>
          <a:lstStyle/>
          <a:p>
            <a:pPr algn="r" indent="0" marL="0">
              <a:lnSpc>
                <a:spcPts val="1400"/>
              </a:lnSpc>
              <a:buNone/>
            </a:pPr>
            <a:r>
              <a:rPr lang="en-US" sz="1050" dirty="0">
                <a:solidFill>
                  <a:srgbClr val="333F70"/>
                </a:solidFill>
                <a:latin typeface="Open Sans" pitchFamily="34" charset="0"/>
                <a:ea typeface="Open Sans" pitchFamily="34" charset="-122"/>
                <a:cs typeface="Open Sans" pitchFamily="34" charset="-120"/>
              </a:rPr>
              <a:t>Business Planning for Social Ventures</a:t>
            </a:r>
            <a:endParaRPr lang="en-US" sz="1050" dirty="0"/>
          </a:p>
        </p:txBody>
      </p:sp>
      <p:sp>
        <p:nvSpPr>
          <p:cNvPr id="30" name="Shape 28"/>
          <p:cNvSpPr/>
          <p:nvPr/>
        </p:nvSpPr>
        <p:spPr>
          <a:xfrm>
            <a:off x="7299960" y="5249228"/>
            <a:ext cx="400050" cy="15240"/>
          </a:xfrm>
          <a:prstGeom prst="roundRect">
            <a:avLst>
              <a:gd name="adj" fmla="val 367500"/>
            </a:avLst>
          </a:prstGeom>
          <a:solidFill>
            <a:srgbClr val="BCDBD4"/>
          </a:solidFill>
          <a:ln/>
        </p:spPr>
      </p:sp>
      <p:sp>
        <p:nvSpPr>
          <p:cNvPr id="31" name="Shape 29"/>
          <p:cNvSpPr/>
          <p:nvPr/>
        </p:nvSpPr>
        <p:spPr>
          <a:xfrm>
            <a:off x="7265194" y="5206841"/>
            <a:ext cx="100013" cy="100012"/>
          </a:xfrm>
          <a:prstGeom prst="roundRect">
            <a:avLst>
              <a:gd name="adj" fmla="val 457145"/>
            </a:avLst>
          </a:prstGeom>
          <a:solidFill>
            <a:srgbClr val="26A688"/>
          </a:solidFill>
          <a:ln/>
        </p:spPr>
      </p:sp>
      <p:sp>
        <p:nvSpPr>
          <p:cNvPr id="32" name="Shape 30"/>
          <p:cNvSpPr/>
          <p:nvPr/>
        </p:nvSpPr>
        <p:spPr>
          <a:xfrm>
            <a:off x="7715250" y="4723448"/>
            <a:ext cx="4857750" cy="1066800"/>
          </a:xfrm>
          <a:prstGeom prst="roundRect">
            <a:avLst>
              <a:gd name="adj" fmla="val 5250"/>
            </a:avLst>
          </a:prstGeom>
          <a:solidFill>
            <a:srgbClr val="D6F5EE"/>
          </a:solidFill>
          <a:ln w="7620">
            <a:solidFill>
              <a:srgbClr val="BCDBD4"/>
            </a:solidFill>
            <a:prstDash val="solid"/>
          </a:ln>
        </p:spPr>
      </p:sp>
      <p:sp>
        <p:nvSpPr>
          <p:cNvPr id="33" name="Text 31"/>
          <p:cNvSpPr/>
          <p:nvPr/>
        </p:nvSpPr>
        <p:spPr>
          <a:xfrm>
            <a:off x="7856220" y="4864418"/>
            <a:ext cx="1666875" cy="208359"/>
          </a:xfrm>
          <a:prstGeom prst="rect">
            <a:avLst/>
          </a:prstGeom>
          <a:noFill/>
          <a:ln/>
        </p:spPr>
        <p:txBody>
          <a:bodyPr wrap="none" lIns="0" tIns="0" rIns="0" bIns="0" rtlCol="0" anchor="t"/>
          <a:lstStyle/>
          <a:p>
            <a:pPr algn="l"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6</a:t>
            </a:r>
            <a:endParaRPr lang="en-US" sz="1300" dirty="0"/>
          </a:p>
        </p:txBody>
      </p:sp>
      <p:sp>
        <p:nvSpPr>
          <p:cNvPr id="34" name="Text 32"/>
          <p:cNvSpPr/>
          <p:nvPr/>
        </p:nvSpPr>
        <p:spPr>
          <a:xfrm>
            <a:off x="7856220" y="5126474"/>
            <a:ext cx="4575810" cy="178356"/>
          </a:xfrm>
          <a:prstGeom prst="rect">
            <a:avLst/>
          </a:prstGeom>
          <a:noFill/>
          <a:ln/>
        </p:spPr>
        <p:txBody>
          <a:bodyPr wrap="none" lIns="0" tIns="0" rIns="0" bIns="0" rtlCol="0" anchor="t"/>
          <a:lstStyle/>
          <a:p>
            <a:pPr algn="l" indent="0" marL="0">
              <a:lnSpc>
                <a:spcPts val="1400"/>
              </a:lnSpc>
              <a:buNone/>
            </a:pPr>
            <a:r>
              <a:rPr lang="en-US" sz="1050" dirty="0">
                <a:solidFill>
                  <a:srgbClr val="333F70"/>
                </a:solidFill>
                <a:latin typeface="Open Sans" pitchFamily="34" charset="0"/>
                <a:ea typeface="Open Sans" pitchFamily="34" charset="-122"/>
                <a:cs typeface="Open Sans" pitchFamily="34" charset="-120"/>
              </a:rPr>
              <a:t>Organisational Structures &amp; Governance</a:t>
            </a:r>
            <a:endParaRPr lang="en-US" sz="1050" dirty="0"/>
          </a:p>
        </p:txBody>
      </p:sp>
      <p:sp>
        <p:nvSpPr>
          <p:cNvPr id="35" name="Shape 33"/>
          <p:cNvSpPr/>
          <p:nvPr/>
        </p:nvSpPr>
        <p:spPr>
          <a:xfrm>
            <a:off x="6930390" y="5872282"/>
            <a:ext cx="400050" cy="15240"/>
          </a:xfrm>
          <a:prstGeom prst="roundRect">
            <a:avLst>
              <a:gd name="adj" fmla="val 367500"/>
            </a:avLst>
          </a:prstGeom>
          <a:solidFill>
            <a:srgbClr val="BCDBD4"/>
          </a:solidFill>
          <a:ln/>
        </p:spPr>
      </p:sp>
      <p:sp>
        <p:nvSpPr>
          <p:cNvPr id="36" name="Shape 34"/>
          <p:cNvSpPr/>
          <p:nvPr/>
        </p:nvSpPr>
        <p:spPr>
          <a:xfrm>
            <a:off x="7265194" y="5829895"/>
            <a:ext cx="100013" cy="100012"/>
          </a:xfrm>
          <a:prstGeom prst="roundRect">
            <a:avLst>
              <a:gd name="adj" fmla="val 457145"/>
            </a:avLst>
          </a:prstGeom>
          <a:solidFill>
            <a:srgbClr val="26A688"/>
          </a:solidFill>
          <a:ln/>
        </p:spPr>
      </p:sp>
      <p:sp>
        <p:nvSpPr>
          <p:cNvPr id="37" name="Shape 35"/>
          <p:cNvSpPr/>
          <p:nvPr/>
        </p:nvSpPr>
        <p:spPr>
          <a:xfrm>
            <a:off x="2057400" y="5346502"/>
            <a:ext cx="4857750" cy="1066800"/>
          </a:xfrm>
          <a:prstGeom prst="roundRect">
            <a:avLst>
              <a:gd name="adj" fmla="val 5250"/>
            </a:avLst>
          </a:prstGeom>
          <a:solidFill>
            <a:srgbClr val="D6F5EE"/>
          </a:solidFill>
          <a:ln w="7620">
            <a:solidFill>
              <a:srgbClr val="BCDBD4"/>
            </a:solidFill>
            <a:prstDash val="solid"/>
          </a:ln>
        </p:spPr>
      </p:sp>
      <p:sp>
        <p:nvSpPr>
          <p:cNvPr id="38" name="Text 36"/>
          <p:cNvSpPr/>
          <p:nvPr/>
        </p:nvSpPr>
        <p:spPr>
          <a:xfrm>
            <a:off x="5107305" y="5487472"/>
            <a:ext cx="1666875" cy="208359"/>
          </a:xfrm>
          <a:prstGeom prst="rect">
            <a:avLst/>
          </a:prstGeom>
          <a:noFill/>
          <a:ln/>
        </p:spPr>
        <p:txBody>
          <a:bodyPr wrap="none" lIns="0" tIns="0" rIns="0" bIns="0" rtlCol="0" anchor="t"/>
          <a:lstStyle/>
          <a:p>
            <a:pPr algn="r"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7</a:t>
            </a:r>
            <a:endParaRPr lang="en-US" sz="1300" dirty="0"/>
          </a:p>
        </p:txBody>
      </p:sp>
      <p:sp>
        <p:nvSpPr>
          <p:cNvPr id="39" name="Text 37"/>
          <p:cNvSpPr/>
          <p:nvPr/>
        </p:nvSpPr>
        <p:spPr>
          <a:xfrm>
            <a:off x="2198370" y="5749528"/>
            <a:ext cx="4575810" cy="178356"/>
          </a:xfrm>
          <a:prstGeom prst="rect">
            <a:avLst/>
          </a:prstGeom>
          <a:noFill/>
          <a:ln/>
        </p:spPr>
        <p:txBody>
          <a:bodyPr wrap="none" lIns="0" tIns="0" rIns="0" bIns="0" rtlCol="0" anchor="t"/>
          <a:lstStyle/>
          <a:p>
            <a:pPr algn="r" indent="0" marL="0">
              <a:lnSpc>
                <a:spcPts val="1400"/>
              </a:lnSpc>
              <a:buNone/>
            </a:pPr>
            <a:r>
              <a:rPr lang="en-US" sz="1050" dirty="0">
                <a:solidFill>
                  <a:srgbClr val="333F70"/>
                </a:solidFill>
                <a:latin typeface="Open Sans" pitchFamily="34" charset="0"/>
                <a:ea typeface="Open Sans" pitchFamily="34" charset="-122"/>
                <a:cs typeface="Open Sans" pitchFamily="34" charset="-120"/>
              </a:rPr>
              <a:t>Funding &amp; Scaling</a:t>
            </a:r>
            <a:endParaRPr lang="en-US" sz="1050" dirty="0"/>
          </a:p>
        </p:txBody>
      </p:sp>
      <p:sp>
        <p:nvSpPr>
          <p:cNvPr id="40" name="Shape 38"/>
          <p:cNvSpPr/>
          <p:nvPr/>
        </p:nvSpPr>
        <p:spPr>
          <a:xfrm>
            <a:off x="7299960" y="6495336"/>
            <a:ext cx="400050" cy="15240"/>
          </a:xfrm>
          <a:prstGeom prst="roundRect">
            <a:avLst>
              <a:gd name="adj" fmla="val 367500"/>
            </a:avLst>
          </a:prstGeom>
          <a:solidFill>
            <a:srgbClr val="BCDBD4"/>
          </a:solidFill>
          <a:ln/>
        </p:spPr>
      </p:sp>
      <p:sp>
        <p:nvSpPr>
          <p:cNvPr id="41" name="Shape 39"/>
          <p:cNvSpPr/>
          <p:nvPr/>
        </p:nvSpPr>
        <p:spPr>
          <a:xfrm>
            <a:off x="7265194" y="6452949"/>
            <a:ext cx="100013" cy="100012"/>
          </a:xfrm>
          <a:prstGeom prst="roundRect">
            <a:avLst>
              <a:gd name="adj" fmla="val 457145"/>
            </a:avLst>
          </a:prstGeom>
          <a:solidFill>
            <a:srgbClr val="26A688"/>
          </a:solidFill>
          <a:ln/>
        </p:spPr>
      </p:sp>
      <p:sp>
        <p:nvSpPr>
          <p:cNvPr id="42" name="Shape 40"/>
          <p:cNvSpPr/>
          <p:nvPr/>
        </p:nvSpPr>
        <p:spPr>
          <a:xfrm>
            <a:off x="7715250" y="5969556"/>
            <a:ext cx="4857750" cy="1066800"/>
          </a:xfrm>
          <a:prstGeom prst="roundRect">
            <a:avLst>
              <a:gd name="adj" fmla="val 5250"/>
            </a:avLst>
          </a:prstGeom>
          <a:solidFill>
            <a:srgbClr val="D6F5EE"/>
          </a:solidFill>
          <a:ln w="7620">
            <a:solidFill>
              <a:srgbClr val="BCDBD4"/>
            </a:solidFill>
            <a:prstDash val="solid"/>
          </a:ln>
        </p:spPr>
      </p:sp>
      <p:sp>
        <p:nvSpPr>
          <p:cNvPr id="43" name="Text 41"/>
          <p:cNvSpPr/>
          <p:nvPr/>
        </p:nvSpPr>
        <p:spPr>
          <a:xfrm>
            <a:off x="7856220" y="6110526"/>
            <a:ext cx="1666875" cy="208359"/>
          </a:xfrm>
          <a:prstGeom prst="rect">
            <a:avLst/>
          </a:prstGeom>
          <a:noFill/>
          <a:ln/>
        </p:spPr>
        <p:txBody>
          <a:bodyPr wrap="none" lIns="0" tIns="0" rIns="0" bIns="0" rtlCol="0" anchor="t"/>
          <a:lstStyle/>
          <a:p>
            <a:pPr algn="l" indent="0" marL="0">
              <a:lnSpc>
                <a:spcPts val="1600"/>
              </a:lnSpc>
              <a:buNone/>
            </a:pPr>
            <a:r>
              <a:rPr lang="en-US" sz="1300" b="1" dirty="0">
                <a:solidFill>
                  <a:srgbClr val="333F70"/>
                </a:solidFill>
                <a:latin typeface="Unbounded Bold" pitchFamily="34" charset="0"/>
                <a:ea typeface="Unbounded Bold" pitchFamily="34" charset="-122"/>
                <a:cs typeface="Unbounded Bold" pitchFamily="34" charset="-120"/>
              </a:rPr>
              <a:t>Week 8</a:t>
            </a:r>
            <a:endParaRPr lang="en-US" sz="1300" dirty="0"/>
          </a:p>
        </p:txBody>
      </p:sp>
      <p:sp>
        <p:nvSpPr>
          <p:cNvPr id="44" name="Text 42"/>
          <p:cNvSpPr/>
          <p:nvPr/>
        </p:nvSpPr>
        <p:spPr>
          <a:xfrm>
            <a:off x="7856220" y="6372582"/>
            <a:ext cx="4575810" cy="178356"/>
          </a:xfrm>
          <a:prstGeom prst="rect">
            <a:avLst/>
          </a:prstGeom>
          <a:noFill/>
          <a:ln/>
        </p:spPr>
        <p:txBody>
          <a:bodyPr wrap="none" lIns="0" tIns="0" rIns="0" bIns="0" rtlCol="0" anchor="t"/>
          <a:lstStyle/>
          <a:p>
            <a:pPr algn="l" indent="0" marL="0">
              <a:lnSpc>
                <a:spcPts val="1400"/>
              </a:lnSpc>
              <a:buNone/>
            </a:pPr>
            <a:r>
              <a:rPr lang="en-US" sz="1050" dirty="0">
                <a:solidFill>
                  <a:srgbClr val="333F70"/>
                </a:solidFill>
                <a:latin typeface="Open Sans" pitchFamily="34" charset="0"/>
                <a:ea typeface="Open Sans" pitchFamily="34" charset="-122"/>
                <a:cs typeface="Open Sans" pitchFamily="34" charset="-120"/>
              </a:rPr>
              <a:t>Measuring &amp; Communicating Impact</a:t>
            </a:r>
            <a:endParaRPr lang="en-US" sz="1050" dirty="0"/>
          </a:p>
        </p:txBody>
      </p:sp>
      <p:sp>
        <p:nvSpPr>
          <p:cNvPr id="45" name="Shape 43"/>
          <p:cNvSpPr/>
          <p:nvPr/>
        </p:nvSpPr>
        <p:spPr>
          <a:xfrm>
            <a:off x="2057400" y="7137202"/>
            <a:ext cx="10515600" cy="626864"/>
          </a:xfrm>
          <a:prstGeom prst="roundRect">
            <a:avLst>
              <a:gd name="adj" fmla="val 8934"/>
            </a:avLst>
          </a:prstGeom>
          <a:solidFill>
            <a:srgbClr val="B6D6FC"/>
          </a:solidFill>
          <a:ln/>
        </p:spPr>
      </p:sp>
      <p:pic>
        <p:nvPicPr>
          <p:cNvPr id="46" name="Image 0" descr="preencoded.png">    </p:cNvPr>
          <p:cNvPicPr>
            <a:picLocks noChangeAspect="1"/>
          </p:cNvPicPr>
          <p:nvPr/>
        </p:nvPicPr>
        <p:blipFill>
          <a:blip r:embed="rId1"/>
          <a:stretch>
            <a:fillRect/>
          </a:stretch>
        </p:blipFill>
        <p:spPr>
          <a:xfrm>
            <a:off x="2190750" y="7324368"/>
            <a:ext cx="166688" cy="133350"/>
          </a:xfrm>
          <a:prstGeom prst="rect">
            <a:avLst/>
          </a:prstGeom>
        </p:spPr>
      </p:pic>
      <p:sp>
        <p:nvSpPr>
          <p:cNvPr id="47" name="Text 44"/>
          <p:cNvSpPr/>
          <p:nvPr/>
        </p:nvSpPr>
        <p:spPr>
          <a:xfrm>
            <a:off x="2490787" y="7260074"/>
            <a:ext cx="9948862" cy="356711"/>
          </a:xfrm>
          <a:prstGeom prst="rect">
            <a:avLst/>
          </a:prstGeom>
          <a:noFill/>
          <a:ln/>
        </p:spPr>
        <p:txBody>
          <a:bodyPr wrap="square" lIns="0" tIns="0" rIns="0" bIns="0" rtlCol="0" anchor="t"/>
          <a:lstStyle/>
          <a:p>
            <a:pPr algn="l" indent="0" marL="0">
              <a:lnSpc>
                <a:spcPts val="1400"/>
              </a:lnSpc>
              <a:buNone/>
            </a:pPr>
            <a:r>
              <a:rPr lang="en-US" sz="1050" dirty="0">
                <a:solidFill>
                  <a:srgbClr val="000000"/>
                </a:solidFill>
                <a:latin typeface="Open Sans" pitchFamily="34" charset="0"/>
                <a:ea typeface="Open Sans" pitchFamily="34" charset="-122"/>
                <a:cs typeface="Open Sans" pitchFamily="34" charset="-120"/>
              </a:rPr>
              <a:t>Each week concludes with a self-assessment MCQ module to reinforce learning. The course is assessed via a final exam weighted 75% and continuous assessment weighted 25%.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19376" y="567095"/>
            <a:ext cx="716161" cy="327303"/>
          </a:xfrm>
          <a:prstGeom prst="roundRect">
            <a:avLst>
              <a:gd name="adj" fmla="val 18465"/>
            </a:avLst>
          </a:prstGeom>
          <a:solidFill>
            <a:srgbClr val="D6F5EE"/>
          </a:solidFill>
          <a:ln/>
        </p:spPr>
      </p:sp>
      <p:sp>
        <p:nvSpPr>
          <p:cNvPr id="3" name="Text 1"/>
          <p:cNvSpPr/>
          <p:nvPr/>
        </p:nvSpPr>
        <p:spPr>
          <a:xfrm>
            <a:off x="827246" y="621030"/>
            <a:ext cx="500420" cy="219432"/>
          </a:xfrm>
          <a:prstGeom prst="rect">
            <a:avLst/>
          </a:prstGeom>
          <a:noFill/>
          <a:ln/>
        </p:spPr>
        <p:txBody>
          <a:bodyPr wrap="none" lIns="0" tIns="0" rIns="0" bIns="0" rtlCol="0" anchor="t"/>
          <a:lstStyle/>
          <a:p>
            <a:pPr algn="l" indent="0" marL="0">
              <a:lnSpc>
                <a:spcPts val="1700"/>
              </a:lnSpc>
              <a:buNone/>
            </a:pPr>
            <a:r>
              <a:rPr lang="en-US" sz="1100" dirty="0">
                <a:solidFill>
                  <a:srgbClr val="333F70"/>
                </a:solidFill>
                <a:latin typeface="Open Sans" pitchFamily="34" charset="0"/>
                <a:ea typeface="Open Sans" pitchFamily="34" charset="-122"/>
                <a:cs typeface="Open Sans" pitchFamily="34" charset="-120"/>
              </a:rPr>
              <a:t>WEEK 1</a:t>
            </a:r>
            <a:endParaRPr lang="en-US" sz="1100" dirty="0"/>
          </a:p>
        </p:txBody>
      </p:sp>
      <p:sp>
        <p:nvSpPr>
          <p:cNvPr id="4" name="Text 2"/>
          <p:cNvSpPr/>
          <p:nvPr/>
        </p:nvSpPr>
        <p:spPr>
          <a:xfrm>
            <a:off x="719376" y="959525"/>
            <a:ext cx="11231880" cy="562094"/>
          </a:xfrm>
          <a:prstGeom prst="rect">
            <a:avLst/>
          </a:prstGeom>
          <a:noFill/>
          <a:ln/>
        </p:spPr>
        <p:txBody>
          <a:bodyPr wrap="none" lIns="0" tIns="0" rIns="0" bIns="0" rtlCol="0" anchor="t"/>
          <a:lstStyle/>
          <a:p>
            <a:pPr algn="l" indent="0" marL="0">
              <a:lnSpc>
                <a:spcPts val="4400"/>
              </a:lnSpc>
              <a:buNone/>
            </a:pPr>
            <a:r>
              <a:rPr lang="en-US" sz="3500" b="1" dirty="0">
                <a:solidFill>
                  <a:srgbClr val="333F70"/>
                </a:solidFill>
                <a:latin typeface="Unbounded Bold" pitchFamily="34" charset="0"/>
                <a:ea typeface="Unbounded Bold" pitchFamily="34" charset="-122"/>
                <a:cs typeface="Unbounded Bold" pitchFamily="34" charset="-120"/>
              </a:rPr>
              <a:t>Foundations of Social Entrepreneurship</a:t>
            </a:r>
            <a:endParaRPr lang="en-US" sz="3500" dirty="0"/>
          </a:p>
        </p:txBody>
      </p:sp>
      <p:sp>
        <p:nvSpPr>
          <p:cNvPr id="5" name="Shape 3"/>
          <p:cNvSpPr/>
          <p:nvPr/>
        </p:nvSpPr>
        <p:spPr>
          <a:xfrm>
            <a:off x="589836" y="1766054"/>
            <a:ext cx="6635472" cy="5896451"/>
          </a:xfrm>
          <a:prstGeom prst="roundRect">
            <a:avLst>
              <a:gd name="adj" fmla="val 2196"/>
            </a:avLst>
          </a:prstGeom>
          <a:solidFill>
            <a:srgbClr val="FC8337"/>
          </a:solidFill>
          <a:ln/>
        </p:spPr>
      </p:sp>
      <p:sp>
        <p:nvSpPr>
          <p:cNvPr id="6" name="Text 4"/>
          <p:cNvSpPr/>
          <p:nvPr/>
        </p:nvSpPr>
        <p:spPr>
          <a:xfrm>
            <a:off x="769620" y="1929051"/>
            <a:ext cx="4709636" cy="280988"/>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Unbounded Bold" pitchFamily="34" charset="0"/>
                <a:ea typeface="Unbounded Bold" pitchFamily="34" charset="-122"/>
                <a:cs typeface="Unbounded Bold" pitchFamily="34" charset="-120"/>
              </a:rPr>
              <a:t>What Is Social Entrepreneurship?</a:t>
            </a:r>
            <a:endParaRPr lang="en-US" sz="1750" dirty="0"/>
          </a:p>
        </p:txBody>
      </p:sp>
      <p:sp>
        <p:nvSpPr>
          <p:cNvPr id="7" name="Text 5"/>
          <p:cNvSpPr/>
          <p:nvPr/>
        </p:nvSpPr>
        <p:spPr>
          <a:xfrm>
            <a:off x="769620" y="2373035"/>
            <a:ext cx="6275903" cy="1920240"/>
          </a:xfrm>
          <a:prstGeom prst="rect">
            <a:avLst/>
          </a:prstGeom>
          <a:noFill/>
          <a:ln/>
        </p:spPr>
        <p:txBody>
          <a:bodyPr wrap="square" lIns="0" tIns="0" rIns="0" bIns="0" rtlCol="0" anchor="t"/>
          <a:lstStyle/>
          <a:p>
            <a:pPr algn="l" indent="0" marL="0">
              <a:lnSpc>
                <a:spcPts val="2150"/>
              </a:lnSpc>
              <a:buNone/>
            </a:pPr>
            <a:r>
              <a:rPr lang="en-US" sz="1400" dirty="0">
                <a:solidFill>
                  <a:srgbClr val="000000"/>
                </a:solidFill>
                <a:latin typeface="Open Sans" pitchFamily="34" charset="0"/>
                <a:ea typeface="Open Sans" pitchFamily="34" charset="-122"/>
                <a:cs typeface="Open Sans" pitchFamily="34" charset="-120"/>
              </a:rPr>
              <a:t>Social entrepreneurship sits at the intersection of business acumen and social mission. Unlike purely commercial ventures, social enterprises are founded with an explicit mandate to generate positive social, environmental, or community outcomes — while remaining financially viable. Definitions range from Dees's classic framing of the "change agent" to broader institutional definitions that encompass hybrid and nonprofit models.</a:t>
            </a:r>
            <a:endParaRPr lang="en-US" sz="1400" dirty="0"/>
          </a:p>
        </p:txBody>
      </p:sp>
      <p:sp>
        <p:nvSpPr>
          <p:cNvPr id="8" name="Text 6"/>
          <p:cNvSpPr/>
          <p:nvPr/>
        </p:nvSpPr>
        <p:spPr>
          <a:xfrm>
            <a:off x="769620" y="4439960"/>
            <a:ext cx="6275903" cy="1097280"/>
          </a:xfrm>
          <a:prstGeom prst="rect">
            <a:avLst/>
          </a:prstGeom>
          <a:noFill/>
          <a:ln/>
        </p:spPr>
        <p:txBody>
          <a:bodyPr wrap="square" lIns="0" tIns="0" rIns="0" bIns="0" rtlCol="0" anchor="t"/>
          <a:lstStyle/>
          <a:p>
            <a:pPr algn="l" indent="0" marL="0">
              <a:lnSpc>
                <a:spcPts val="2150"/>
              </a:lnSpc>
              <a:buNone/>
            </a:pPr>
            <a:r>
              <a:rPr lang="en-US" sz="1400" dirty="0">
                <a:solidFill>
                  <a:srgbClr val="000000"/>
                </a:solidFill>
                <a:latin typeface="Open Sans" pitchFamily="34" charset="0"/>
                <a:ea typeface="Open Sans" pitchFamily="34" charset="-122"/>
                <a:cs typeface="Open Sans" pitchFamily="34" charset="-120"/>
              </a:rPr>
              <a:t>Historically, the concept gained momentum in the 1980s and 1990s as governments, funders, and civil society began recognising that market-based approaches could tackle entrenched social problems more efficiently than traditional charity or state provision alone.</a:t>
            </a:r>
            <a:endParaRPr lang="en-US" sz="1400" dirty="0"/>
          </a:p>
        </p:txBody>
      </p:sp>
      <p:sp>
        <p:nvSpPr>
          <p:cNvPr id="9" name="Text 7"/>
          <p:cNvSpPr/>
          <p:nvPr/>
        </p:nvSpPr>
        <p:spPr>
          <a:xfrm>
            <a:off x="7542252" y="1929051"/>
            <a:ext cx="4856678" cy="280988"/>
          </a:xfrm>
          <a:prstGeom prst="rect">
            <a:avLst/>
          </a:prstGeom>
          <a:noFill/>
          <a:ln/>
        </p:spPr>
        <p:txBody>
          <a:bodyPr wrap="none" lIns="0" tIns="0" rIns="0" bIns="0" rtlCol="0" anchor="t"/>
          <a:lstStyle/>
          <a:p>
            <a:pPr algn="l" indent="0" marL="0">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Key Distinctions &amp; Characteristics</a:t>
            </a:r>
            <a:endParaRPr lang="en-US" sz="1750" dirty="0"/>
          </a:p>
        </p:txBody>
      </p:sp>
      <p:sp>
        <p:nvSpPr>
          <p:cNvPr id="10" name="Text 8"/>
          <p:cNvSpPr/>
          <p:nvPr/>
        </p:nvSpPr>
        <p:spPr>
          <a:xfrm>
            <a:off x="7542252" y="2373035"/>
            <a:ext cx="6376392" cy="822960"/>
          </a:xfrm>
          <a:prstGeom prst="rect">
            <a:avLst/>
          </a:prstGeom>
          <a:noFill/>
          <a:ln/>
        </p:spPr>
        <p:txBody>
          <a:bodyPr wrap="square" lIns="0" tIns="0" rIns="0" bIns="0" rtlCol="0" anchor="t"/>
          <a:lstStyle/>
          <a:p>
            <a:pPr algn="l" indent="0" marL="0">
              <a:lnSpc>
                <a:spcPts val="2150"/>
              </a:lnSpc>
              <a:buNone/>
            </a:pPr>
            <a:r>
              <a:rPr lang="en-US" sz="1400" dirty="0">
                <a:solidFill>
                  <a:srgbClr val="333F70"/>
                </a:solidFill>
                <a:latin typeface="Open Sans" pitchFamily="34" charset="0"/>
                <a:ea typeface="Open Sans" pitchFamily="34" charset="-122"/>
                <a:cs typeface="Open Sans" pitchFamily="34" charset="-120"/>
              </a:rPr>
              <a:t>Social entrepreneurs share a recognisable profile: they are </a:t>
            </a:r>
            <a:pPr algn="l" indent="0" marL="0">
              <a:lnSpc>
                <a:spcPts val="2150"/>
              </a:lnSpc>
              <a:buNone/>
            </a:pPr>
            <a:r>
              <a:rPr lang="en-US" sz="1400" b="1" dirty="0">
                <a:solidFill>
                  <a:srgbClr val="333F70"/>
                </a:solidFill>
                <a:latin typeface="Open Sans" pitchFamily="34" charset="0"/>
                <a:ea typeface="Open Sans" pitchFamily="34" charset="-122"/>
                <a:cs typeface="Open Sans" pitchFamily="34" charset="-120"/>
              </a:rPr>
              <a:t>mission-driven</a:t>
            </a:r>
            <a:pPr algn="l" indent="0" marL="0">
              <a:lnSpc>
                <a:spcPts val="2150"/>
              </a:lnSpc>
              <a:buNone/>
            </a:pPr>
            <a:r>
              <a:rPr lang="en-US" sz="1400" dirty="0">
                <a:solidFill>
                  <a:srgbClr val="333F70"/>
                </a:solidFill>
                <a:latin typeface="Open Sans" pitchFamily="34" charset="0"/>
                <a:ea typeface="Open Sans" pitchFamily="34" charset="-122"/>
                <a:cs typeface="Open Sans" pitchFamily="34" charset="-120"/>
              </a:rPr>
              <a:t>, </a:t>
            </a:r>
            <a:pPr algn="l" indent="0" marL="0">
              <a:lnSpc>
                <a:spcPts val="2150"/>
              </a:lnSpc>
              <a:buNone/>
            </a:pPr>
            <a:r>
              <a:rPr lang="en-US" sz="1400" b="1" dirty="0">
                <a:solidFill>
                  <a:srgbClr val="333F70"/>
                </a:solidFill>
                <a:latin typeface="Open Sans" pitchFamily="34" charset="0"/>
                <a:ea typeface="Open Sans" pitchFamily="34" charset="-122"/>
                <a:cs typeface="Open Sans" pitchFamily="34" charset="-120"/>
              </a:rPr>
              <a:t>opportunity-oriented</a:t>
            </a:r>
            <a:pPr algn="l" indent="0" marL="0">
              <a:lnSpc>
                <a:spcPts val="2150"/>
              </a:lnSpc>
              <a:buNone/>
            </a:pPr>
            <a:r>
              <a:rPr lang="en-US" sz="1400" dirty="0">
                <a:solidFill>
                  <a:srgbClr val="333F70"/>
                </a:solidFill>
                <a:latin typeface="Open Sans" pitchFamily="34" charset="0"/>
                <a:ea typeface="Open Sans" pitchFamily="34" charset="-122"/>
                <a:cs typeface="Open Sans" pitchFamily="34" charset="-120"/>
              </a:rPr>
              <a:t>, and </a:t>
            </a:r>
            <a:pPr algn="l" indent="0" marL="0">
              <a:lnSpc>
                <a:spcPts val="2150"/>
              </a:lnSpc>
              <a:buNone/>
            </a:pPr>
            <a:r>
              <a:rPr lang="en-US" sz="1400" b="1" dirty="0">
                <a:solidFill>
                  <a:srgbClr val="333F70"/>
                </a:solidFill>
                <a:latin typeface="Open Sans" pitchFamily="34" charset="0"/>
                <a:ea typeface="Open Sans" pitchFamily="34" charset="-122"/>
                <a:cs typeface="Open Sans" pitchFamily="34" charset="-120"/>
              </a:rPr>
              <a:t>resourceful under constraint</a:t>
            </a:r>
            <a:pPr algn="l" indent="0" marL="0">
              <a:lnSpc>
                <a:spcPts val="2150"/>
              </a:lnSpc>
              <a:buNone/>
            </a:pPr>
            <a:r>
              <a:rPr lang="en-US" sz="1400" dirty="0">
                <a:solidFill>
                  <a:srgbClr val="333F70"/>
                </a:solidFill>
                <a:latin typeface="Open Sans" pitchFamily="34" charset="0"/>
                <a:ea typeface="Open Sans" pitchFamily="34" charset="-122"/>
                <a:cs typeface="Open Sans" pitchFamily="34" charset="-120"/>
              </a:rPr>
              <a:t>. They identify market failures or unmet social needs and design scalable responses.</a:t>
            </a:r>
            <a:endParaRPr lang="en-US" sz="1400" dirty="0"/>
          </a:p>
        </p:txBody>
      </p:sp>
      <p:sp>
        <p:nvSpPr>
          <p:cNvPr id="11" name="Text 9"/>
          <p:cNvSpPr/>
          <p:nvPr/>
        </p:nvSpPr>
        <p:spPr>
          <a:xfrm>
            <a:off x="7542252" y="3342680"/>
            <a:ext cx="6376392" cy="1645920"/>
          </a:xfrm>
          <a:prstGeom prst="rect">
            <a:avLst/>
          </a:prstGeom>
          <a:noFill/>
          <a:ln/>
        </p:spPr>
        <p:txBody>
          <a:bodyPr wrap="square" lIns="0" tIns="0" rIns="0" bIns="0" rtlCol="0" anchor="t"/>
          <a:lstStyle/>
          <a:p>
            <a:pPr algn="l" indent="0" marL="0">
              <a:lnSpc>
                <a:spcPts val="2150"/>
              </a:lnSpc>
              <a:buNone/>
            </a:pPr>
            <a:r>
              <a:rPr lang="en-US" sz="1400" b="1" dirty="0">
                <a:solidFill>
                  <a:srgbClr val="333F70"/>
                </a:solidFill>
                <a:latin typeface="Open Sans" pitchFamily="34" charset="0"/>
                <a:ea typeface="Open Sans" pitchFamily="34" charset="-122"/>
                <a:cs typeface="Open Sans" pitchFamily="34" charset="-120"/>
              </a:rPr>
              <a:t>Social vs. Commercial Entrepreneurship:</a:t>
            </a:r>
            <a:pPr algn="l" indent="0" marL="0">
              <a:lnSpc>
                <a:spcPts val="2150"/>
              </a:lnSpc>
              <a:buNone/>
            </a:pPr>
            <a:r>
              <a:rPr lang="en-US" sz="1400" dirty="0">
                <a:solidFill>
                  <a:srgbClr val="333F70"/>
                </a:solidFill>
                <a:latin typeface="Open Sans" pitchFamily="34" charset="0"/>
                <a:ea typeface="Open Sans" pitchFamily="34" charset="-122"/>
                <a:cs typeface="Open Sans" pitchFamily="34" charset="-120"/>
              </a:rPr>
              <a:t> While commercial entrepreneurs primarily pursue profit maximisation for shareholders, social entrepreneurs measure success against a dual or triple bottom line — financial sustainability alongside social and environmental returns. The two models are not mutually exclusive; many successful ventures blend both logics.</a:t>
            </a:r>
            <a:endParaRPr lang="en-US" sz="1400" dirty="0"/>
          </a:p>
        </p:txBody>
      </p:sp>
      <p:sp>
        <p:nvSpPr>
          <p:cNvPr id="12" name="Text 10"/>
          <p:cNvSpPr/>
          <p:nvPr/>
        </p:nvSpPr>
        <p:spPr>
          <a:xfrm>
            <a:off x="7542252" y="5151596"/>
            <a:ext cx="3851434" cy="280988"/>
          </a:xfrm>
          <a:prstGeom prst="rect">
            <a:avLst/>
          </a:prstGeom>
          <a:noFill/>
          <a:ln/>
        </p:spPr>
        <p:txBody>
          <a:bodyPr wrap="none" lIns="0" tIns="0" rIns="0" bIns="0" rtlCol="0" anchor="t"/>
          <a:lstStyle/>
          <a:p>
            <a:pPr algn="l" indent="0" marL="0">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Case Study: Grameen Bank</a:t>
            </a:r>
            <a:endParaRPr lang="en-US" sz="1750" dirty="0"/>
          </a:p>
        </p:txBody>
      </p:sp>
      <p:sp>
        <p:nvSpPr>
          <p:cNvPr id="13" name="Text 11"/>
          <p:cNvSpPr/>
          <p:nvPr/>
        </p:nvSpPr>
        <p:spPr>
          <a:xfrm>
            <a:off x="7542252" y="5595580"/>
            <a:ext cx="6376392" cy="1920240"/>
          </a:xfrm>
          <a:prstGeom prst="rect">
            <a:avLst/>
          </a:prstGeom>
          <a:noFill/>
          <a:ln/>
        </p:spPr>
        <p:txBody>
          <a:bodyPr wrap="square" lIns="0" tIns="0" rIns="0" bIns="0" rtlCol="0" anchor="t"/>
          <a:lstStyle/>
          <a:p>
            <a:pPr algn="l" indent="0" marL="0">
              <a:lnSpc>
                <a:spcPts val="2150"/>
              </a:lnSpc>
              <a:buNone/>
            </a:pPr>
            <a:r>
              <a:rPr lang="en-US" sz="1400" dirty="0">
                <a:solidFill>
                  <a:srgbClr val="333F70"/>
                </a:solidFill>
                <a:latin typeface="Open Sans" pitchFamily="34" charset="0"/>
                <a:ea typeface="Open Sans" pitchFamily="34" charset="-122"/>
                <a:cs typeface="Open Sans" pitchFamily="34" charset="-120"/>
              </a:rPr>
              <a:t>Founded by Muhammad Yunus in Bangladesh in 1983, Grameen Bank pioneered microfinance — extending small loans to impoverished borrowers who lacked collateral. It demonstrated that the poor are creditworthy, that repayment rates can exceed those of commercial banks, and that a social enterprise can achieve both scale and sustainability. Grameen Bank has since served over 9 million borrowers, the majority of them women.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2228" y="523637"/>
            <a:ext cx="678775" cy="305038"/>
          </a:xfrm>
          <a:prstGeom prst="roundRect">
            <a:avLst>
              <a:gd name="adj" fmla="val 18788"/>
            </a:avLst>
          </a:prstGeom>
          <a:solidFill>
            <a:srgbClr val="D6F5EE"/>
          </a:solidFill>
          <a:ln/>
        </p:spPr>
      </p:sp>
      <p:sp>
        <p:nvSpPr>
          <p:cNvPr id="3" name="Text 1"/>
          <p:cNvSpPr/>
          <p:nvPr/>
        </p:nvSpPr>
        <p:spPr>
          <a:xfrm>
            <a:off x="784503" y="574715"/>
            <a:ext cx="474226" cy="202883"/>
          </a:xfrm>
          <a:prstGeom prst="rect">
            <a:avLst/>
          </a:prstGeom>
          <a:noFill/>
          <a:ln/>
        </p:spPr>
        <p:txBody>
          <a:bodyPr wrap="none" lIns="0" tIns="0" rIns="0" bIns="0" rtlCol="0" anchor="t"/>
          <a:lstStyle/>
          <a:p>
            <a:pPr algn="l" indent="0" marL="0">
              <a:lnSpc>
                <a:spcPts val="1550"/>
              </a:lnSpc>
              <a:buNone/>
            </a:pPr>
            <a:r>
              <a:rPr lang="en-US" sz="1050" dirty="0">
                <a:solidFill>
                  <a:srgbClr val="333F70"/>
                </a:solidFill>
                <a:latin typeface="Open Sans" pitchFamily="34" charset="0"/>
                <a:ea typeface="Open Sans" pitchFamily="34" charset="-122"/>
                <a:cs typeface="Open Sans" pitchFamily="34" charset="-120"/>
              </a:rPr>
              <a:t>WEEK 2</a:t>
            </a:r>
            <a:endParaRPr lang="en-US" sz="1050" dirty="0"/>
          </a:p>
        </p:txBody>
      </p:sp>
      <p:sp>
        <p:nvSpPr>
          <p:cNvPr id="4" name="Text 2"/>
          <p:cNvSpPr/>
          <p:nvPr/>
        </p:nvSpPr>
        <p:spPr>
          <a:xfrm>
            <a:off x="682228" y="887254"/>
            <a:ext cx="10213658" cy="532924"/>
          </a:xfrm>
          <a:prstGeom prst="rect">
            <a:avLst/>
          </a:prstGeom>
          <a:noFill/>
          <a:ln/>
        </p:spPr>
        <p:txBody>
          <a:bodyPr wrap="none" lIns="0" tIns="0" rIns="0" bIns="0" rtlCol="0" anchor="t"/>
          <a:lstStyle/>
          <a:p>
            <a:pPr algn="l" indent="0" marL="0">
              <a:lnSpc>
                <a:spcPts val="4150"/>
              </a:lnSpc>
              <a:buNone/>
            </a:pPr>
            <a:r>
              <a:rPr lang="en-US" sz="3350" b="1" dirty="0">
                <a:solidFill>
                  <a:srgbClr val="333F70"/>
                </a:solidFill>
                <a:latin typeface="Unbounded Bold" pitchFamily="34" charset="0"/>
                <a:ea typeface="Unbounded Bold" pitchFamily="34" charset="-122"/>
                <a:cs typeface="Unbounded Bold" pitchFamily="34" charset="-120"/>
              </a:rPr>
              <a:t>Sustainability &amp; the Triple Bottom Line</a:t>
            </a:r>
            <a:endParaRPr lang="en-US" sz="3350" dirty="0"/>
          </a:p>
        </p:txBody>
      </p:sp>
      <p:sp>
        <p:nvSpPr>
          <p:cNvPr id="5" name="Text 3"/>
          <p:cNvSpPr/>
          <p:nvPr/>
        </p:nvSpPr>
        <p:spPr>
          <a:xfrm>
            <a:off x="682228" y="1639967"/>
            <a:ext cx="13265944" cy="507444"/>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Sustainability is not merely an environmental concept — it is a strategic framework that asks whether a venture can endure and deliver value across economic, social, and ecological dimensions simultaneously. The Triple Bottom Line (TBL), coined by John Elkington in 1994, provides the canonical structure for this analysis.</a:t>
            </a:r>
            <a:endParaRPr lang="en-US" sz="1300" dirty="0"/>
          </a:p>
        </p:txBody>
      </p:sp>
      <p:sp>
        <p:nvSpPr>
          <p:cNvPr id="6" name="Shape 4"/>
          <p:cNvSpPr/>
          <p:nvPr/>
        </p:nvSpPr>
        <p:spPr>
          <a:xfrm>
            <a:off x="682228" y="2312194"/>
            <a:ext cx="4324231" cy="2637353"/>
          </a:xfrm>
          <a:prstGeom prst="roundRect">
            <a:avLst>
              <a:gd name="adj" fmla="val 2716"/>
            </a:avLst>
          </a:prstGeom>
          <a:solidFill>
            <a:srgbClr val="D6F5EE"/>
          </a:solidFill>
          <a:ln w="7620">
            <a:solidFill>
              <a:srgbClr val="BCDBD4"/>
            </a:solidFill>
            <a:prstDash val="solid"/>
          </a:ln>
        </p:spPr>
      </p:sp>
      <p:sp>
        <p:nvSpPr>
          <p:cNvPr id="7" name="Shape 5"/>
          <p:cNvSpPr/>
          <p:nvPr/>
        </p:nvSpPr>
        <p:spPr>
          <a:xfrm>
            <a:off x="860346" y="2490311"/>
            <a:ext cx="511612" cy="511612"/>
          </a:xfrm>
          <a:prstGeom prst="roundRect">
            <a:avLst>
              <a:gd name="adj" fmla="val 17871132"/>
            </a:avLst>
          </a:prstGeom>
          <a:solidFill>
            <a:srgbClr val="26A688"/>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1078" y="2631043"/>
            <a:ext cx="230148" cy="230148"/>
          </a:xfrm>
          <a:prstGeom prst="rect">
            <a:avLst/>
          </a:prstGeom>
        </p:spPr>
      </p:pic>
      <p:sp>
        <p:nvSpPr>
          <p:cNvPr id="9" name="Text 6"/>
          <p:cNvSpPr/>
          <p:nvPr/>
        </p:nvSpPr>
        <p:spPr>
          <a:xfrm>
            <a:off x="860346" y="3148489"/>
            <a:ext cx="2459236"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Profit — Economic</a:t>
            </a:r>
            <a:endParaRPr lang="en-US" sz="1650" dirty="0"/>
          </a:p>
        </p:txBody>
      </p:sp>
      <p:sp>
        <p:nvSpPr>
          <p:cNvPr id="10" name="Text 7"/>
          <p:cNvSpPr/>
          <p:nvPr/>
        </p:nvSpPr>
        <p:spPr>
          <a:xfrm>
            <a:off x="860346" y="3502819"/>
            <a:ext cx="3967996" cy="1268611"/>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Financial viability, revenue generation, cost efficiency, and the ability to reinvest surplus into the mission. Without economic sustainability, even the most impactful venture will eventually fail to deliver.</a:t>
            </a:r>
            <a:endParaRPr lang="en-US" sz="1300" dirty="0"/>
          </a:p>
        </p:txBody>
      </p:sp>
      <p:sp>
        <p:nvSpPr>
          <p:cNvPr id="11" name="Shape 8"/>
          <p:cNvSpPr/>
          <p:nvPr/>
        </p:nvSpPr>
        <p:spPr>
          <a:xfrm>
            <a:off x="5153025" y="2312194"/>
            <a:ext cx="4324231" cy="2637353"/>
          </a:xfrm>
          <a:prstGeom prst="roundRect">
            <a:avLst>
              <a:gd name="adj" fmla="val 2716"/>
            </a:avLst>
          </a:prstGeom>
          <a:solidFill>
            <a:srgbClr val="D6F5EE"/>
          </a:solidFill>
          <a:ln w="7620">
            <a:solidFill>
              <a:srgbClr val="BCDBD4"/>
            </a:solidFill>
            <a:prstDash val="solid"/>
          </a:ln>
        </p:spPr>
      </p:sp>
      <p:sp>
        <p:nvSpPr>
          <p:cNvPr id="12" name="Shape 9"/>
          <p:cNvSpPr/>
          <p:nvPr/>
        </p:nvSpPr>
        <p:spPr>
          <a:xfrm>
            <a:off x="5331143" y="2490311"/>
            <a:ext cx="511612" cy="511612"/>
          </a:xfrm>
          <a:prstGeom prst="roundRect">
            <a:avLst>
              <a:gd name="adj" fmla="val 17871132"/>
            </a:avLst>
          </a:prstGeom>
          <a:solidFill>
            <a:srgbClr val="26A688"/>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71874" y="2631043"/>
            <a:ext cx="230148" cy="230148"/>
          </a:xfrm>
          <a:prstGeom prst="rect">
            <a:avLst/>
          </a:prstGeom>
        </p:spPr>
      </p:pic>
      <p:sp>
        <p:nvSpPr>
          <p:cNvPr id="14" name="Text 10"/>
          <p:cNvSpPr/>
          <p:nvPr/>
        </p:nvSpPr>
        <p:spPr>
          <a:xfrm>
            <a:off x="5331143" y="3148489"/>
            <a:ext cx="2131933"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People — Social</a:t>
            </a:r>
            <a:endParaRPr lang="en-US" sz="1650" dirty="0"/>
          </a:p>
        </p:txBody>
      </p:sp>
      <p:sp>
        <p:nvSpPr>
          <p:cNvPr id="15" name="Text 11"/>
          <p:cNvSpPr/>
          <p:nvPr/>
        </p:nvSpPr>
        <p:spPr>
          <a:xfrm>
            <a:off x="5331143" y="3502819"/>
            <a:ext cx="3967996" cy="1014889"/>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Fair labour practices, community wellbeing, equity and inclusion, stakeholder relationships, and the direct social outcomes the organisation creates or enables for its beneficiaries.</a:t>
            </a:r>
            <a:endParaRPr lang="en-US" sz="1300" dirty="0"/>
          </a:p>
        </p:txBody>
      </p:sp>
      <p:sp>
        <p:nvSpPr>
          <p:cNvPr id="16" name="Shape 12"/>
          <p:cNvSpPr/>
          <p:nvPr/>
        </p:nvSpPr>
        <p:spPr>
          <a:xfrm>
            <a:off x="9623822" y="2312194"/>
            <a:ext cx="4324231" cy="2637353"/>
          </a:xfrm>
          <a:prstGeom prst="roundRect">
            <a:avLst>
              <a:gd name="adj" fmla="val 2716"/>
            </a:avLst>
          </a:prstGeom>
          <a:solidFill>
            <a:srgbClr val="D6F5EE"/>
          </a:solidFill>
          <a:ln w="7620">
            <a:solidFill>
              <a:srgbClr val="BCDBD4"/>
            </a:solidFill>
            <a:prstDash val="solid"/>
          </a:ln>
        </p:spPr>
      </p:sp>
      <p:sp>
        <p:nvSpPr>
          <p:cNvPr id="17" name="Shape 13"/>
          <p:cNvSpPr/>
          <p:nvPr/>
        </p:nvSpPr>
        <p:spPr>
          <a:xfrm>
            <a:off x="9801939" y="2490311"/>
            <a:ext cx="511612" cy="511612"/>
          </a:xfrm>
          <a:prstGeom prst="roundRect">
            <a:avLst>
              <a:gd name="adj" fmla="val 17871132"/>
            </a:avLst>
          </a:prstGeom>
          <a:solidFill>
            <a:srgbClr val="26A688"/>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42671" y="2631043"/>
            <a:ext cx="230148" cy="230148"/>
          </a:xfrm>
          <a:prstGeom prst="rect">
            <a:avLst/>
          </a:prstGeom>
        </p:spPr>
      </p:pic>
      <p:sp>
        <p:nvSpPr>
          <p:cNvPr id="19" name="Text 14"/>
          <p:cNvSpPr/>
          <p:nvPr/>
        </p:nvSpPr>
        <p:spPr>
          <a:xfrm>
            <a:off x="9801939" y="3148489"/>
            <a:ext cx="3189684"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Planet — Environmental</a:t>
            </a:r>
            <a:endParaRPr lang="en-US" sz="1650" dirty="0"/>
          </a:p>
        </p:txBody>
      </p:sp>
      <p:sp>
        <p:nvSpPr>
          <p:cNvPr id="20" name="Text 15"/>
          <p:cNvSpPr/>
          <p:nvPr/>
        </p:nvSpPr>
        <p:spPr>
          <a:xfrm>
            <a:off x="9801939" y="3502819"/>
            <a:ext cx="3967996" cy="1268611"/>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Ecological footprint, resource stewardship, carbon emissions, biodiversity impact, and alignment with planetary boundaries. Increasingly, this pillar is being linked to climate risk and regulatory compliance.</a:t>
            </a:r>
            <a:endParaRPr lang="en-US" sz="1300" dirty="0"/>
          </a:p>
        </p:txBody>
      </p:sp>
      <p:sp>
        <p:nvSpPr>
          <p:cNvPr id="21" name="Text 16"/>
          <p:cNvSpPr/>
          <p:nvPr/>
        </p:nvSpPr>
        <p:spPr>
          <a:xfrm>
            <a:off x="682228" y="5260896"/>
            <a:ext cx="6003012"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Role of Social Entrepreneurs in Sustainability</a:t>
            </a:r>
            <a:endParaRPr lang="en-US" sz="1650" dirty="0"/>
          </a:p>
        </p:txBody>
      </p:sp>
      <p:sp>
        <p:nvSpPr>
          <p:cNvPr id="22" name="Text 17"/>
          <p:cNvSpPr/>
          <p:nvPr/>
        </p:nvSpPr>
        <p:spPr>
          <a:xfrm>
            <a:off x="682228" y="5673923"/>
            <a:ext cx="6424970" cy="1268611"/>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Social entrepreneurs act as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systems disruptors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 challenging incumbent models that externalise social or environmental costs. By internalising these costs into their business models, they demonstrate that more responsible approaches are commercially viable, compelling larger market actors to follow suit.</a:t>
            </a:r>
            <a:endParaRPr lang="en-US" sz="1300" dirty="0"/>
          </a:p>
        </p:txBody>
      </p:sp>
      <p:sp>
        <p:nvSpPr>
          <p:cNvPr id="23" name="Text 18"/>
          <p:cNvSpPr/>
          <p:nvPr/>
        </p:nvSpPr>
        <p:spPr>
          <a:xfrm>
            <a:off x="7530822" y="5260896"/>
            <a:ext cx="5845731"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Key Drivers of Sustainable Social Enterprise</a:t>
            </a:r>
            <a:endParaRPr lang="en-US" sz="1650" dirty="0"/>
          </a:p>
        </p:txBody>
      </p:sp>
      <p:sp>
        <p:nvSpPr>
          <p:cNvPr id="24" name="Text 19"/>
          <p:cNvSpPr/>
          <p:nvPr/>
        </p:nvSpPr>
        <p:spPr>
          <a:xfrm>
            <a:off x="7530822" y="5673923"/>
            <a:ext cx="6424970" cy="1980843"/>
          </a:xfrm>
          <a:prstGeom prst="rect">
            <a:avLst/>
          </a:prstGeom>
          <a:noFill/>
          <a:ln/>
        </p:spPr>
        <p:txBody>
          <a:bodyPr wrap="square" lIns="0" tIns="0" rIns="0" bIns="0" rtlCol="0" anchor="t"/>
          <a:lstStyle/>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Regulatory pressure:</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ESG reporting mandates and sustainability legislation</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Consumer demand:</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Growing preference for ethical and transparent brands</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Investor expectations: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Impact investment and ESG-aligned capital allocation</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Technological enablers: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Clean tech and digital platforms reducing cost barriers</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Global frameworks: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SDGs and Paris Agreement providing direction and legitimacy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2228" y="641271"/>
            <a:ext cx="678775" cy="305038"/>
          </a:xfrm>
          <a:prstGeom prst="roundRect">
            <a:avLst>
              <a:gd name="adj" fmla="val 18788"/>
            </a:avLst>
          </a:prstGeom>
          <a:solidFill>
            <a:srgbClr val="D6F5EE"/>
          </a:solidFill>
          <a:ln/>
        </p:spPr>
      </p:sp>
      <p:sp>
        <p:nvSpPr>
          <p:cNvPr id="3" name="Text 1"/>
          <p:cNvSpPr/>
          <p:nvPr/>
        </p:nvSpPr>
        <p:spPr>
          <a:xfrm>
            <a:off x="784503" y="692348"/>
            <a:ext cx="474226" cy="202883"/>
          </a:xfrm>
          <a:prstGeom prst="rect">
            <a:avLst/>
          </a:prstGeom>
          <a:noFill/>
          <a:ln/>
        </p:spPr>
        <p:txBody>
          <a:bodyPr wrap="none" lIns="0" tIns="0" rIns="0" bIns="0" rtlCol="0" anchor="t"/>
          <a:lstStyle/>
          <a:p>
            <a:pPr algn="l" indent="0" marL="0">
              <a:lnSpc>
                <a:spcPts val="1550"/>
              </a:lnSpc>
              <a:buNone/>
            </a:pPr>
            <a:r>
              <a:rPr lang="en-US" sz="1050" dirty="0">
                <a:solidFill>
                  <a:srgbClr val="333F70"/>
                </a:solidFill>
                <a:latin typeface="Open Sans" pitchFamily="34" charset="0"/>
                <a:ea typeface="Open Sans" pitchFamily="34" charset="-122"/>
                <a:cs typeface="Open Sans" pitchFamily="34" charset="-120"/>
              </a:rPr>
              <a:t>WEEK 3</a:t>
            </a:r>
            <a:endParaRPr lang="en-US" sz="1050" dirty="0"/>
          </a:p>
        </p:txBody>
      </p:sp>
      <p:sp>
        <p:nvSpPr>
          <p:cNvPr id="4" name="Text 2"/>
          <p:cNvSpPr/>
          <p:nvPr/>
        </p:nvSpPr>
        <p:spPr>
          <a:xfrm>
            <a:off x="682228" y="1004888"/>
            <a:ext cx="13265944" cy="1065848"/>
          </a:xfrm>
          <a:prstGeom prst="rect">
            <a:avLst/>
          </a:prstGeom>
          <a:noFill/>
          <a:ln/>
        </p:spPr>
        <p:txBody>
          <a:bodyPr wrap="square" lIns="0" tIns="0" rIns="0" bIns="0" rtlCol="0" anchor="t"/>
          <a:lstStyle/>
          <a:p>
            <a:pPr algn="l" indent="0" marL="0">
              <a:lnSpc>
                <a:spcPts val="4150"/>
              </a:lnSpc>
              <a:buNone/>
            </a:pPr>
            <a:r>
              <a:rPr lang="en-US" sz="3350" b="1" dirty="0">
                <a:solidFill>
                  <a:srgbClr val="333F70"/>
                </a:solidFill>
                <a:latin typeface="Unbounded Bold" pitchFamily="34" charset="0"/>
                <a:ea typeface="Unbounded Bold" pitchFamily="34" charset="-122"/>
                <a:cs typeface="Unbounded Bold" pitchFamily="34" charset="-120"/>
              </a:rPr>
              <a:t>Innovation &amp; Business Models in Social Enterprises</a:t>
            </a:r>
            <a:endParaRPr lang="en-US" sz="3350" dirty="0"/>
          </a:p>
        </p:txBody>
      </p:sp>
      <p:sp>
        <p:nvSpPr>
          <p:cNvPr id="5" name="Text 3"/>
          <p:cNvSpPr/>
          <p:nvPr/>
        </p:nvSpPr>
        <p:spPr>
          <a:xfrm>
            <a:off x="682228" y="2290524"/>
            <a:ext cx="13265944" cy="507444"/>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Innovation is the lifeblood of social entrepreneurship. Without it, ventures risk replicating the same ineffective interventions with marginal improvements. This week examines why innovation matters, what innovative business models look like in practice, and how to cultivate a culture of creative problem-solving.</a:t>
            </a:r>
            <a:endParaRPr lang="en-US" sz="1300" dirty="0"/>
          </a:p>
        </p:txBody>
      </p:sp>
      <p:sp>
        <p:nvSpPr>
          <p:cNvPr id="6" name="Text 4"/>
          <p:cNvSpPr/>
          <p:nvPr/>
        </p:nvSpPr>
        <p:spPr>
          <a:xfrm>
            <a:off x="682228" y="3109317"/>
            <a:ext cx="3272790"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Why Innovation Matters</a:t>
            </a:r>
            <a:endParaRPr lang="en-US" sz="1650" dirty="0"/>
          </a:p>
        </p:txBody>
      </p:sp>
      <p:sp>
        <p:nvSpPr>
          <p:cNvPr id="7" name="Text 5"/>
          <p:cNvSpPr/>
          <p:nvPr/>
        </p:nvSpPr>
        <p:spPr>
          <a:xfrm>
            <a:off x="682228" y="3522345"/>
            <a:ext cx="6424970" cy="1268611"/>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Social problems are complex, adaptive, and resistant to simple solutions. Innovation in social ventures encompasses not just product or service innovation, but also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process innovation</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(how services are delivered),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business model innovation</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(how value is created and captured), and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systemic innovation</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(reshaping the rules and relationships that govern a sector).</a:t>
            </a:r>
            <a:endParaRPr lang="en-US" sz="1300" dirty="0"/>
          </a:p>
        </p:txBody>
      </p:sp>
      <p:sp>
        <p:nvSpPr>
          <p:cNvPr id="8" name="Text 6"/>
          <p:cNvSpPr/>
          <p:nvPr/>
        </p:nvSpPr>
        <p:spPr>
          <a:xfrm>
            <a:off x="682228" y="4937522"/>
            <a:ext cx="3934897"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Innovative Models in Practice</a:t>
            </a:r>
            <a:endParaRPr lang="en-US" sz="1650" dirty="0"/>
          </a:p>
        </p:txBody>
      </p:sp>
      <p:sp>
        <p:nvSpPr>
          <p:cNvPr id="9" name="Text 7"/>
          <p:cNvSpPr/>
          <p:nvPr/>
        </p:nvSpPr>
        <p:spPr>
          <a:xfrm>
            <a:off x="682228" y="5350550"/>
            <a:ext cx="6424970" cy="2183368"/>
          </a:xfrm>
          <a:prstGeom prst="rect">
            <a:avLst/>
          </a:prstGeom>
          <a:noFill/>
          <a:ln/>
        </p:spPr>
        <p:txBody>
          <a:bodyPr wrap="square" lIns="0" tIns="0" rIns="0" bIns="0" rtlCol="0" anchor="t"/>
          <a:lstStyle/>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Cross-subsidisation:</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Revenue from paying customers funds services for those who cannot pay (e.g., Aravind Eye Hospital)</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Platform models: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Connecting supply and demand in underserved markets (e.g., Kiva's peer-to-peer lending)</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Franchising for impact:</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Replicating proven models through local operators (e.g., VisionSpring)</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Social impact bonds: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Outcome-based financing that rewards measurable results</a:t>
            </a:r>
            <a:endParaRPr lang="en-US" sz="1300" dirty="0"/>
          </a:p>
        </p:txBody>
      </p:sp>
      <p:sp>
        <p:nvSpPr>
          <p:cNvPr id="10" name="Text 8"/>
          <p:cNvSpPr/>
          <p:nvPr/>
        </p:nvSpPr>
        <p:spPr>
          <a:xfrm>
            <a:off x="7530822" y="3109317"/>
            <a:ext cx="4411861"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Ideation &amp; Innovation Techniques</a:t>
            </a:r>
            <a:endParaRPr lang="en-US" sz="1650" dirty="0"/>
          </a:p>
        </p:txBody>
      </p:sp>
      <p:sp>
        <p:nvSpPr>
          <p:cNvPr id="11" name="Text 9"/>
          <p:cNvSpPr/>
          <p:nvPr/>
        </p:nvSpPr>
        <p:spPr>
          <a:xfrm>
            <a:off x="7530822" y="3522345"/>
            <a:ext cx="6424970" cy="507444"/>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Structured approaches help social entrepreneurs move from problem identification to viable solution design:</a:t>
            </a:r>
            <a:endParaRPr lang="en-US" sz="1300" dirty="0"/>
          </a:p>
        </p:txBody>
      </p:sp>
      <p:sp>
        <p:nvSpPr>
          <p:cNvPr id="12" name="Text 10"/>
          <p:cNvSpPr/>
          <p:nvPr/>
        </p:nvSpPr>
        <p:spPr>
          <a:xfrm>
            <a:off x="7530822" y="4161592"/>
            <a:ext cx="6424970" cy="1929646"/>
          </a:xfrm>
          <a:prstGeom prst="rect">
            <a:avLst/>
          </a:prstGeom>
          <a:noFill/>
          <a:ln/>
        </p:spPr>
        <p:txBody>
          <a:bodyPr wrap="square" lIns="0" tIns="0" rIns="0" bIns="0" rtlCol="0" anchor="t"/>
          <a:lstStyle/>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Human-centred design (HCD):</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Deeply understanding end-user needs before designing solutions</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Design thinking sprints: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Rapid prototyping and iteration cycles</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Jobs-to-be-done framework:</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Focusing on the functional, social, and emotional jobs beneficiaries are trying to accomplish</a:t>
            </a:r>
            <a:endParaRPr lang="en-US" sz="1300" dirty="0"/>
          </a:p>
          <a:p>
            <a:pPr algn="l" marL="342900" indent="-342900">
              <a:lnSpc>
                <a:spcPts val="1950"/>
              </a:lnSpc>
              <a:buSzPct val="100000"/>
              <a:buChar char="•"/>
            </a:pPr>
            <a:r>
              <a:rPr lang="en-US" sz="1300" b="1" dirty="0">
                <a:solidFill>
                  <a:srgbClr val="333F70"/>
                </a:solidFill>
                <a:latin typeface="Open Sans" pitchFamily="34" charset="0"/>
                <a:ea typeface="Open Sans" pitchFamily="34" charset="-122"/>
                <a:cs typeface="Open Sans" pitchFamily="34" charset="-120"/>
              </a:rPr>
              <a:t>Lean startup methodology:</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Building minimum viable products, testing assumptions, and pivoting based on evidence</a:t>
            </a:r>
            <a:endParaRPr lang="en-US" sz="1300" dirty="0"/>
          </a:p>
        </p:txBody>
      </p:sp>
      <p:sp>
        <p:nvSpPr>
          <p:cNvPr id="13" name="Shape 11"/>
          <p:cNvSpPr/>
          <p:nvPr/>
        </p:nvSpPr>
        <p:spPr>
          <a:xfrm>
            <a:off x="7530822" y="6256020"/>
            <a:ext cx="6424970" cy="1167408"/>
          </a:xfrm>
          <a:prstGeom prst="roundRect">
            <a:avLst>
              <a:gd name="adj" fmla="val 6136"/>
            </a:avLst>
          </a:prstGeom>
          <a:solidFill>
            <a:srgbClr val="C1F1E5"/>
          </a:solidFill>
          <a:ln/>
        </p:spPr>
      </p:sp>
      <p:pic>
        <p:nvPicPr>
          <p:cNvPr id="14" name="Image 0" descr="preencoded.png">    </p:cNvPr>
          <p:cNvPicPr>
            <a:picLocks noChangeAspect="1"/>
          </p:cNvPicPr>
          <p:nvPr/>
        </p:nvPicPr>
        <p:blipFill>
          <a:blip r:embed="rId1"/>
          <a:stretch>
            <a:fillRect/>
          </a:stretch>
        </p:blipFill>
        <p:spPr>
          <a:xfrm>
            <a:off x="7701320" y="6510457"/>
            <a:ext cx="213122" cy="170497"/>
          </a:xfrm>
          <a:prstGeom prst="rect">
            <a:avLst/>
          </a:prstGeom>
        </p:spPr>
      </p:pic>
      <p:sp>
        <p:nvSpPr>
          <p:cNvPr id="15" name="Text 12"/>
          <p:cNvSpPr/>
          <p:nvPr/>
        </p:nvSpPr>
        <p:spPr>
          <a:xfrm>
            <a:off x="8084939" y="6445210"/>
            <a:ext cx="5700355" cy="761167"/>
          </a:xfrm>
          <a:prstGeom prst="rect">
            <a:avLst/>
          </a:prstGeom>
          <a:noFill/>
          <a:ln/>
        </p:spPr>
        <p:txBody>
          <a:bodyPr wrap="square" lIns="0" tIns="0" rIns="0" bIns="0" rtlCol="0" anchor="t"/>
          <a:lstStyle/>
          <a:p>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Case studies in this module include Barefoot College, SELCO India, and BRAC — each illustrating a distinct approach to innovation in resource-constrained environments.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06993" y="574477"/>
            <a:ext cx="703540" cy="319802"/>
          </a:xfrm>
          <a:prstGeom prst="roundRect">
            <a:avLst>
              <a:gd name="adj" fmla="val 18572"/>
            </a:avLst>
          </a:prstGeom>
          <a:solidFill>
            <a:srgbClr val="D6F5EE"/>
          </a:solidFill>
          <a:ln/>
        </p:spPr>
      </p:sp>
      <p:sp>
        <p:nvSpPr>
          <p:cNvPr id="3" name="Text 1"/>
          <p:cNvSpPr/>
          <p:nvPr/>
        </p:nvSpPr>
        <p:spPr>
          <a:xfrm>
            <a:off x="812959" y="627459"/>
            <a:ext cx="491609" cy="213836"/>
          </a:xfrm>
          <a:prstGeom prst="rect">
            <a:avLst/>
          </a:prstGeom>
          <a:noFill/>
          <a:ln/>
        </p:spPr>
        <p:txBody>
          <a:bodyPr wrap="none" lIns="0" tIns="0" rIns="0" bIns="0" rtlCol="0" anchor="t"/>
          <a:lstStyle/>
          <a:p>
            <a:pPr algn="l" indent="0" marL="0">
              <a:lnSpc>
                <a:spcPts val="1650"/>
              </a:lnSpc>
              <a:buNone/>
            </a:pPr>
            <a:r>
              <a:rPr lang="en-US" sz="1100" dirty="0">
                <a:solidFill>
                  <a:srgbClr val="333F70"/>
                </a:solidFill>
                <a:latin typeface="Open Sans" pitchFamily="34" charset="0"/>
                <a:ea typeface="Open Sans" pitchFamily="34" charset="-122"/>
                <a:cs typeface="Open Sans" pitchFamily="34" charset="-120"/>
              </a:rPr>
              <a:t>WEEK 4</a:t>
            </a:r>
            <a:endParaRPr lang="en-US" sz="1100" dirty="0"/>
          </a:p>
        </p:txBody>
      </p:sp>
      <p:sp>
        <p:nvSpPr>
          <p:cNvPr id="4" name="Text 2"/>
          <p:cNvSpPr/>
          <p:nvPr/>
        </p:nvSpPr>
        <p:spPr>
          <a:xfrm>
            <a:off x="706993" y="957143"/>
            <a:ext cx="9871710" cy="552450"/>
          </a:xfrm>
          <a:prstGeom prst="rect">
            <a:avLst/>
          </a:prstGeom>
          <a:noFill/>
          <a:ln/>
        </p:spPr>
        <p:txBody>
          <a:bodyPr wrap="none" lIns="0" tIns="0" rIns="0" bIns="0" rtlCol="0" anchor="t"/>
          <a:lstStyle/>
          <a:p>
            <a:pPr algn="l" indent="0" marL="0">
              <a:lnSpc>
                <a:spcPts val="4300"/>
              </a:lnSpc>
              <a:buNone/>
            </a:pPr>
            <a:r>
              <a:rPr lang="en-US" sz="3450" b="1" dirty="0">
                <a:solidFill>
                  <a:srgbClr val="333F70"/>
                </a:solidFill>
                <a:latin typeface="Unbounded Bold" pitchFamily="34" charset="0"/>
                <a:ea typeface="Unbounded Bold" pitchFamily="34" charset="-122"/>
                <a:cs typeface="Unbounded Bold" pitchFamily="34" charset="-120"/>
              </a:rPr>
              <a:t>Social Entrepreneurship &amp; the SDGs</a:t>
            </a:r>
            <a:endParaRPr lang="en-US" sz="3450" dirty="0"/>
          </a:p>
        </p:txBody>
      </p:sp>
      <p:sp>
        <p:nvSpPr>
          <p:cNvPr id="5" name="Text 3"/>
          <p:cNvSpPr/>
          <p:nvPr/>
        </p:nvSpPr>
        <p:spPr>
          <a:xfrm>
            <a:off x="706993" y="1745694"/>
            <a:ext cx="13216414" cy="802243"/>
          </a:xfrm>
          <a:prstGeom prst="rect">
            <a:avLst/>
          </a:prstGeom>
          <a:noFill/>
          <a:ln/>
        </p:spPr>
        <p:txBody>
          <a:bodyPr wrap="square" lIns="0" tIns="0" rIns="0" bIns="0" rtlCol="0" anchor="t"/>
          <a:lstStyle/>
          <a:p>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The United Nations' 17 Sustainable Development Goals, adopted in 2015 as part of the 2030 Agenda, represent the most comprehensive global framework for addressing poverty, inequality, climate change, and systemic injustice. Social entrepreneurs are uniquely positioned to translate these ambitious goals into ground-level action.</a:t>
            </a:r>
            <a:endParaRPr lang="en-US" sz="13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6993" y="2724983"/>
            <a:ext cx="353497" cy="353497"/>
          </a:xfrm>
          <a:prstGeom prst="rect">
            <a:avLst/>
          </a:prstGeom>
        </p:spPr>
      </p:pic>
      <p:sp>
        <p:nvSpPr>
          <p:cNvPr id="7" name="Text 4"/>
          <p:cNvSpPr/>
          <p:nvPr/>
        </p:nvSpPr>
        <p:spPr>
          <a:xfrm>
            <a:off x="1257181" y="2785705"/>
            <a:ext cx="5113020" cy="276225"/>
          </a:xfrm>
          <a:prstGeom prst="rect">
            <a:avLst/>
          </a:prstGeom>
          <a:noFill/>
          <a:ln/>
        </p:spPr>
        <p:txBody>
          <a:bodyPr wrap="none" lIns="0" tIns="0" rIns="0" bIns="0" rtlCol="0" anchor="t"/>
          <a:lstStyle/>
          <a:p>
            <a:pPr algn="l" indent="0" marL="0">
              <a:lnSpc>
                <a:spcPts val="2150"/>
              </a:lnSpc>
              <a:buNone/>
            </a:pPr>
            <a:r>
              <a:rPr lang="en-US" sz="1700" b="1" dirty="0">
                <a:solidFill>
                  <a:srgbClr val="333F70"/>
                </a:solidFill>
                <a:latin typeface="Unbounded Bold" pitchFamily="34" charset="0"/>
                <a:ea typeface="Unbounded Bold" pitchFamily="34" charset="-122"/>
                <a:cs typeface="Unbounded Bold" pitchFamily="34" charset="-120"/>
              </a:rPr>
              <a:t>Linking Social Enterprise to the SDGs</a:t>
            </a:r>
            <a:endParaRPr lang="en-US" sz="1700" dirty="0"/>
          </a:p>
        </p:txBody>
      </p:sp>
      <p:sp>
        <p:nvSpPr>
          <p:cNvPr id="8" name="Text 5"/>
          <p:cNvSpPr/>
          <p:nvPr/>
        </p:nvSpPr>
        <p:spPr>
          <a:xfrm>
            <a:off x="1257181" y="3156347"/>
            <a:ext cx="5959673" cy="1871901"/>
          </a:xfrm>
          <a:prstGeom prst="rect">
            <a:avLst/>
          </a:prstGeom>
          <a:noFill/>
          <a:ln/>
        </p:spPr>
        <p:txBody>
          <a:bodyPr wrap="square" lIns="0" tIns="0" rIns="0" bIns="0" rtlCol="0" anchor="t"/>
          <a:lstStyle/>
          <a:p>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Effective social ventures rarely address a single SDG in isolation. A clean water enterprise (SDG 6) simultaneously advances health outcomes (SDG 3), gender equality by reducing women's water-carrying burden (SDG 5), and economic opportunity (SDG 8). Mapping your venture's theory of change onto relevant SDGs strengthens credibility with funders, governments, and partners, and situates local action within a globally recognised narrative.</a:t>
            </a:r>
            <a:endParaRPr lang="en-US" sz="13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546" y="2724983"/>
            <a:ext cx="353497" cy="353497"/>
          </a:xfrm>
          <a:prstGeom prst="rect">
            <a:avLst/>
          </a:prstGeom>
        </p:spPr>
      </p:pic>
      <p:sp>
        <p:nvSpPr>
          <p:cNvPr id="10" name="Text 6"/>
          <p:cNvSpPr/>
          <p:nvPr/>
        </p:nvSpPr>
        <p:spPr>
          <a:xfrm>
            <a:off x="7963733" y="2785705"/>
            <a:ext cx="5354360" cy="276225"/>
          </a:xfrm>
          <a:prstGeom prst="rect">
            <a:avLst/>
          </a:prstGeom>
          <a:noFill/>
          <a:ln/>
        </p:spPr>
        <p:txBody>
          <a:bodyPr wrap="none" lIns="0" tIns="0" rIns="0" bIns="0" rtlCol="0" anchor="t"/>
          <a:lstStyle/>
          <a:p>
            <a:pPr algn="l" indent="0" marL="0">
              <a:lnSpc>
                <a:spcPts val="2150"/>
              </a:lnSpc>
              <a:buNone/>
            </a:pPr>
            <a:r>
              <a:rPr lang="en-US" sz="1700" b="1" dirty="0">
                <a:solidFill>
                  <a:srgbClr val="333F70"/>
                </a:solidFill>
                <a:latin typeface="Unbounded Bold" pitchFamily="34" charset="0"/>
                <a:ea typeface="Unbounded Bold" pitchFamily="34" charset="-122"/>
                <a:cs typeface="Unbounded Bold" pitchFamily="34" charset="-120"/>
              </a:rPr>
              <a:t>SDGs in Action: Global Success Stories</a:t>
            </a:r>
            <a:endParaRPr lang="en-US" sz="1700" dirty="0"/>
          </a:p>
        </p:txBody>
      </p:sp>
      <p:sp>
        <p:nvSpPr>
          <p:cNvPr id="11" name="Text 7"/>
          <p:cNvSpPr/>
          <p:nvPr/>
        </p:nvSpPr>
        <p:spPr>
          <a:xfrm>
            <a:off x="7963733" y="3156347"/>
            <a:ext cx="5959673" cy="1604486"/>
          </a:xfrm>
          <a:prstGeom prst="rect">
            <a:avLst/>
          </a:prstGeom>
          <a:noFill/>
          <a:ln/>
        </p:spPr>
        <p:txBody>
          <a:bodyPr wrap="square" lIns="0" tIns="0" rIns="0" bIns="0" rtlCol="0" anchor="t"/>
          <a:lstStyle/>
          <a:p>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From M-KOPA's pay-as-you-go solar financing in East Africa (SDG 7 &amp; 1) to Too Good To Go's food-waste reduction platform operating across 17 countries (SDG 12 &amp; 2), real-world examples demonstrate how market-based models can achieve SDG-aligned outcomes at scale. These case studies reveal common success factors: deep local knowledge, adaptive business models, and strong ecosystem partnerships.</a:t>
            </a:r>
            <a:endParaRPr lang="en-US" sz="13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6993" y="5343049"/>
            <a:ext cx="353497" cy="353497"/>
          </a:xfrm>
          <a:prstGeom prst="rect">
            <a:avLst/>
          </a:prstGeom>
        </p:spPr>
      </p:pic>
      <p:sp>
        <p:nvSpPr>
          <p:cNvPr id="13" name="Text 8"/>
          <p:cNvSpPr/>
          <p:nvPr/>
        </p:nvSpPr>
        <p:spPr>
          <a:xfrm>
            <a:off x="1257181" y="5403771"/>
            <a:ext cx="4773097" cy="276225"/>
          </a:xfrm>
          <a:prstGeom prst="rect">
            <a:avLst/>
          </a:prstGeom>
          <a:noFill/>
          <a:ln/>
        </p:spPr>
        <p:txBody>
          <a:bodyPr wrap="none" lIns="0" tIns="0" rIns="0" bIns="0" rtlCol="0" anchor="t"/>
          <a:lstStyle/>
          <a:p>
            <a:pPr algn="l" indent="0" marL="0">
              <a:lnSpc>
                <a:spcPts val="2150"/>
              </a:lnSpc>
              <a:buNone/>
            </a:pPr>
            <a:r>
              <a:rPr lang="en-US" sz="1700" b="1" dirty="0">
                <a:solidFill>
                  <a:srgbClr val="333F70"/>
                </a:solidFill>
                <a:latin typeface="Unbounded Bold" pitchFamily="34" charset="0"/>
                <a:ea typeface="Unbounded Bold" pitchFamily="34" charset="-122"/>
                <a:cs typeface="Unbounded Bold" pitchFamily="34" charset="-120"/>
              </a:rPr>
              <a:t>Challenges in SDG Implementation</a:t>
            </a:r>
            <a:endParaRPr lang="en-US" sz="1700" dirty="0"/>
          </a:p>
        </p:txBody>
      </p:sp>
      <p:sp>
        <p:nvSpPr>
          <p:cNvPr id="14" name="Text 9"/>
          <p:cNvSpPr/>
          <p:nvPr/>
        </p:nvSpPr>
        <p:spPr>
          <a:xfrm>
            <a:off x="1257181" y="5774412"/>
            <a:ext cx="5959673" cy="1604486"/>
          </a:xfrm>
          <a:prstGeom prst="rect">
            <a:avLst/>
          </a:prstGeom>
          <a:noFill/>
          <a:ln/>
        </p:spPr>
        <p:txBody>
          <a:bodyPr wrap="square" lIns="0" tIns="0" rIns="0" bIns="0" rtlCol="0" anchor="t"/>
          <a:lstStyle/>
          <a:p>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Despite the promise, SDG implementation faces structural barriers: </a:t>
            </a:r>
            <a:pPr algn="l" indent="0" marL="0">
              <a:lnSpc>
                <a:spcPts val="2100"/>
              </a:lnSpc>
              <a:buNone/>
            </a:pPr>
            <a:r>
              <a:rPr lang="en-US" sz="1350" b="1" dirty="0">
                <a:solidFill>
                  <a:srgbClr val="333F70"/>
                </a:solidFill>
                <a:latin typeface="Open Sans" pitchFamily="34" charset="0"/>
                <a:ea typeface="Open Sans" pitchFamily="34" charset="-122"/>
                <a:cs typeface="Open Sans" pitchFamily="34" charset="-120"/>
              </a:rPr>
              <a:t>funding gaps</a:t>
            </a:r>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 (the UN estimates a $4.2 trillion annual shortfall), </a:t>
            </a:r>
            <a:pPr algn="l" indent="0" marL="0">
              <a:lnSpc>
                <a:spcPts val="2100"/>
              </a:lnSpc>
              <a:buNone/>
            </a:pPr>
            <a:r>
              <a:rPr lang="en-US" sz="1350" b="1" dirty="0">
                <a:solidFill>
                  <a:srgbClr val="333F70"/>
                </a:solidFill>
                <a:latin typeface="Open Sans" pitchFamily="34" charset="0"/>
                <a:ea typeface="Open Sans" pitchFamily="34" charset="-122"/>
                <a:cs typeface="Open Sans" pitchFamily="34" charset="-120"/>
              </a:rPr>
              <a:t>data limitations</a:t>
            </a:r>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 in measuring progress, </a:t>
            </a:r>
            <a:pPr algn="l" indent="0" marL="0">
              <a:lnSpc>
                <a:spcPts val="2100"/>
              </a:lnSpc>
              <a:buNone/>
            </a:pPr>
            <a:r>
              <a:rPr lang="en-US" sz="1350" b="1" dirty="0">
                <a:solidFill>
                  <a:srgbClr val="333F70"/>
                </a:solidFill>
                <a:latin typeface="Open Sans" pitchFamily="34" charset="0"/>
                <a:ea typeface="Open Sans" pitchFamily="34" charset="-122"/>
                <a:cs typeface="Open Sans" pitchFamily="34" charset="-120"/>
              </a:rPr>
              <a:t>policy incoherence</a:t>
            </a:r>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 across national governments, and </a:t>
            </a:r>
            <a:pPr algn="l" indent="0" marL="0">
              <a:lnSpc>
                <a:spcPts val="2100"/>
              </a:lnSpc>
              <a:buNone/>
            </a:pPr>
            <a:r>
              <a:rPr lang="en-US" sz="1350" b="1" dirty="0">
                <a:solidFill>
                  <a:srgbClr val="333F70"/>
                </a:solidFill>
                <a:latin typeface="Open Sans" pitchFamily="34" charset="0"/>
                <a:ea typeface="Open Sans" pitchFamily="34" charset="-122"/>
                <a:cs typeface="Open Sans" pitchFamily="34" charset="-120"/>
              </a:rPr>
              <a:t>SDG-washing</a:t>
            </a:r>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 — where organisations claim alignment without substantive commitment. Social entrepreneurs must navigate these realities with rigour and transparency.</a:t>
            </a:r>
            <a:endParaRPr lang="en-US" sz="13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13546" y="5343049"/>
            <a:ext cx="353497" cy="353497"/>
          </a:xfrm>
          <a:prstGeom prst="rect">
            <a:avLst/>
          </a:prstGeom>
        </p:spPr>
      </p:pic>
      <p:sp>
        <p:nvSpPr>
          <p:cNvPr id="16" name="Text 10"/>
          <p:cNvSpPr/>
          <p:nvPr/>
        </p:nvSpPr>
        <p:spPr>
          <a:xfrm>
            <a:off x="7963733" y="5403771"/>
            <a:ext cx="5959673" cy="552450"/>
          </a:xfrm>
          <a:prstGeom prst="rect">
            <a:avLst/>
          </a:prstGeom>
          <a:noFill/>
          <a:ln/>
        </p:spPr>
        <p:txBody>
          <a:bodyPr wrap="square" lIns="0" tIns="0" rIns="0" bIns="0" rtlCol="0" anchor="t"/>
          <a:lstStyle/>
          <a:p>
            <a:pPr algn="l" indent="0" marL="0">
              <a:lnSpc>
                <a:spcPts val="2150"/>
              </a:lnSpc>
              <a:buNone/>
            </a:pPr>
            <a:r>
              <a:rPr lang="en-US" sz="1700" b="1" dirty="0">
                <a:solidFill>
                  <a:srgbClr val="333F70"/>
                </a:solidFill>
                <a:latin typeface="Unbounded Bold" pitchFamily="34" charset="0"/>
                <a:ea typeface="Unbounded Bold" pitchFamily="34" charset="-122"/>
                <a:cs typeface="Unbounded Bold" pitchFamily="34" charset="-120"/>
              </a:rPr>
              <a:t>Ethical Dilemmas in Social Entrepreneurship</a:t>
            </a:r>
            <a:endParaRPr lang="en-US" sz="1700" dirty="0"/>
          </a:p>
        </p:txBody>
      </p:sp>
      <p:sp>
        <p:nvSpPr>
          <p:cNvPr id="17" name="Text 11"/>
          <p:cNvSpPr/>
          <p:nvPr/>
        </p:nvSpPr>
        <p:spPr>
          <a:xfrm>
            <a:off x="7963733" y="6050637"/>
            <a:ext cx="5959673" cy="1604486"/>
          </a:xfrm>
          <a:prstGeom prst="rect">
            <a:avLst/>
          </a:prstGeom>
          <a:noFill/>
          <a:ln/>
        </p:spPr>
        <p:txBody>
          <a:bodyPr wrap="square" lIns="0" tIns="0" rIns="0" bIns="0" rtlCol="0" anchor="t"/>
          <a:lstStyle/>
          <a:p>
            <a:pPr algn="l" indent="0" marL="0">
              <a:lnSpc>
                <a:spcPts val="2100"/>
              </a:lnSpc>
              <a:buNone/>
            </a:pPr>
            <a:r>
              <a:rPr lang="en-US" sz="1350" dirty="0">
                <a:solidFill>
                  <a:srgbClr val="333F70"/>
                </a:solidFill>
                <a:latin typeface="Open Sans" pitchFamily="34" charset="0"/>
                <a:ea typeface="Open Sans" pitchFamily="34" charset="-122"/>
                <a:cs typeface="Open Sans" pitchFamily="34" charset="-120"/>
              </a:rPr>
              <a:t>Practitioners routinely confront difficult trade-offs: prioritising scale over depth of impact, balancing beneficiary voice against investor demands, or deciding whether a commercially successful pivot compromises the original mission. Ethical frameworks — from utilitarianism to stakeholder theory — provide analytical tools, but ultimately require contextual judgement and transparent governance.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82228" y="502682"/>
            <a:ext cx="678775" cy="305038"/>
          </a:xfrm>
          <a:prstGeom prst="roundRect">
            <a:avLst>
              <a:gd name="adj" fmla="val 18788"/>
            </a:avLst>
          </a:prstGeom>
          <a:solidFill>
            <a:srgbClr val="D6F5EE"/>
          </a:solidFill>
          <a:ln/>
        </p:spPr>
      </p:sp>
      <p:sp>
        <p:nvSpPr>
          <p:cNvPr id="3" name="Text 1"/>
          <p:cNvSpPr/>
          <p:nvPr/>
        </p:nvSpPr>
        <p:spPr>
          <a:xfrm>
            <a:off x="784503" y="553760"/>
            <a:ext cx="474226" cy="202883"/>
          </a:xfrm>
          <a:prstGeom prst="rect">
            <a:avLst/>
          </a:prstGeom>
          <a:noFill/>
          <a:ln/>
        </p:spPr>
        <p:txBody>
          <a:bodyPr wrap="none" lIns="0" tIns="0" rIns="0" bIns="0" rtlCol="0" anchor="t"/>
          <a:lstStyle/>
          <a:p>
            <a:pPr algn="l" indent="0" marL="0">
              <a:lnSpc>
                <a:spcPts val="1550"/>
              </a:lnSpc>
              <a:buNone/>
            </a:pPr>
            <a:r>
              <a:rPr lang="en-US" sz="1050" dirty="0">
                <a:solidFill>
                  <a:srgbClr val="333F70"/>
                </a:solidFill>
                <a:latin typeface="Open Sans" pitchFamily="34" charset="0"/>
                <a:ea typeface="Open Sans" pitchFamily="34" charset="-122"/>
                <a:cs typeface="Open Sans" pitchFamily="34" charset="-120"/>
              </a:rPr>
              <a:t>WEEK 5</a:t>
            </a:r>
            <a:endParaRPr lang="en-US" sz="1050" dirty="0"/>
          </a:p>
        </p:txBody>
      </p:sp>
      <p:sp>
        <p:nvSpPr>
          <p:cNvPr id="4" name="Text 2"/>
          <p:cNvSpPr/>
          <p:nvPr/>
        </p:nvSpPr>
        <p:spPr>
          <a:xfrm>
            <a:off x="682228" y="866299"/>
            <a:ext cx="10070068" cy="532924"/>
          </a:xfrm>
          <a:prstGeom prst="rect">
            <a:avLst/>
          </a:prstGeom>
          <a:noFill/>
          <a:ln/>
        </p:spPr>
        <p:txBody>
          <a:bodyPr wrap="none" lIns="0" tIns="0" rIns="0" bIns="0" rtlCol="0" anchor="t"/>
          <a:lstStyle/>
          <a:p>
            <a:pPr algn="l" indent="0" marL="0">
              <a:lnSpc>
                <a:spcPts val="4150"/>
              </a:lnSpc>
              <a:buNone/>
            </a:pPr>
            <a:r>
              <a:rPr lang="en-US" sz="3350" b="1" dirty="0">
                <a:solidFill>
                  <a:srgbClr val="333F70"/>
                </a:solidFill>
                <a:latin typeface="Unbounded Bold" pitchFamily="34" charset="0"/>
                <a:ea typeface="Unbounded Bold" pitchFamily="34" charset="-122"/>
                <a:cs typeface="Unbounded Bold" pitchFamily="34" charset="-120"/>
              </a:rPr>
              <a:t>Business Planning for Social Ventures</a:t>
            </a:r>
            <a:endParaRPr lang="en-US" sz="3350" dirty="0"/>
          </a:p>
        </p:txBody>
      </p:sp>
      <p:sp>
        <p:nvSpPr>
          <p:cNvPr id="5" name="Text 3"/>
          <p:cNvSpPr/>
          <p:nvPr/>
        </p:nvSpPr>
        <p:spPr>
          <a:xfrm>
            <a:off x="682228" y="1619012"/>
            <a:ext cx="13265944" cy="507444"/>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A robust business plan is not a bureaucratic formality — it is a strategic thinking tool that forces founders to interrogate their assumptions, articulate their model, and anticipate obstacles before they become crises. For social enterprises, the plan must serve a dual master: financial viability and social mission delivery.</a:t>
            </a:r>
            <a:endParaRPr lang="en-US" sz="1300" dirty="0"/>
          </a:p>
        </p:txBody>
      </p:sp>
      <p:sp>
        <p:nvSpPr>
          <p:cNvPr id="6" name="Shape 4"/>
          <p:cNvSpPr/>
          <p:nvPr/>
        </p:nvSpPr>
        <p:spPr>
          <a:xfrm>
            <a:off x="559475" y="2291239"/>
            <a:ext cx="6670477" cy="5435679"/>
          </a:xfrm>
          <a:prstGeom prst="roundRect">
            <a:avLst>
              <a:gd name="adj" fmla="val 2259"/>
            </a:avLst>
          </a:prstGeom>
          <a:solidFill>
            <a:srgbClr val="FC8337"/>
          </a:solidFill>
          <a:ln/>
        </p:spPr>
      </p:sp>
      <p:sp>
        <p:nvSpPr>
          <p:cNvPr id="7" name="Text 5"/>
          <p:cNvSpPr/>
          <p:nvPr/>
        </p:nvSpPr>
        <p:spPr>
          <a:xfrm>
            <a:off x="729972" y="2437805"/>
            <a:ext cx="6329482" cy="532924"/>
          </a:xfrm>
          <a:prstGeom prst="rect">
            <a:avLst/>
          </a:prstGeom>
          <a:noFill/>
          <a:ln/>
        </p:spPr>
        <p:txBody>
          <a:bodyPr wrap="square" lIns="0" tIns="0" rIns="0" bIns="0" rtlCol="0" anchor="t"/>
          <a:lstStyle/>
          <a:p>
            <a:pPr algn="l" indent="0" marL="0">
              <a:lnSpc>
                <a:spcPts val="2050"/>
              </a:lnSpc>
              <a:buNone/>
            </a:pPr>
            <a:r>
              <a:rPr lang="en-US" sz="1650" b="1" dirty="0">
                <a:solidFill>
                  <a:srgbClr val="000000"/>
                </a:solidFill>
                <a:latin typeface="Unbounded Bold" pitchFamily="34" charset="0"/>
                <a:ea typeface="Unbounded Bold" pitchFamily="34" charset="-122"/>
                <a:cs typeface="Unbounded Bold" pitchFamily="34" charset="-120"/>
              </a:rPr>
              <a:t>Essential Elements of a Social Enterprise Business Plan</a:t>
            </a:r>
            <a:endParaRPr lang="en-US" sz="1650" dirty="0"/>
          </a:p>
        </p:txBody>
      </p:sp>
      <p:sp>
        <p:nvSpPr>
          <p:cNvPr id="8" name="Text 6"/>
          <p:cNvSpPr/>
          <p:nvPr/>
        </p:nvSpPr>
        <p:spPr>
          <a:xfrm>
            <a:off x="729972" y="3117294"/>
            <a:ext cx="6329482" cy="4164211"/>
          </a:xfrm>
          <a:prstGeom prst="rect">
            <a:avLst/>
          </a:prstGeom>
          <a:noFill/>
          <a:ln/>
        </p:spPr>
        <p:txBody>
          <a:bodyPr wrap="square" lIns="0" tIns="0" rIns="0" bIns="0" rtlCol="0" anchor="t"/>
          <a:lstStyle/>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Executive summary:</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Mission, value proposition, and key financial highlights</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Problem statement:</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Evidence-based articulation of the social need being addressed</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Solution &amp; theory of change:</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How activities lead to outcomes and impact</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Market analysis:</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Beneficiary segments, competitive landscape, demand evidence</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Business model:</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Revenue streams, cost structure, and sustainability pathway</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Operational plan:</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Delivery mechanisms, staffing, technology, and partnerships</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Financial projections:</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3–5 year forecasts, break-even analysis, funding requirements</a:t>
            </a:r>
            <a:endParaRPr lang="en-US" sz="1300" dirty="0"/>
          </a:p>
          <a:p>
            <a:pPr algn="l" marL="342900" indent="-342900">
              <a:lnSpc>
                <a:spcPts val="1950"/>
              </a:lnSpc>
              <a:buSzPct val="100000"/>
              <a:buChar char="•"/>
            </a:pPr>
            <a:r>
              <a:rPr lang="en-US" sz="1300" b="1" dirty="0">
                <a:solidFill>
                  <a:srgbClr val="000000"/>
                </a:solidFill>
                <a:latin typeface="Open Sans" pitchFamily="34" charset="0"/>
                <a:ea typeface="Open Sans" pitchFamily="34" charset="-122"/>
                <a:cs typeface="Open Sans" pitchFamily="34" charset="-120"/>
              </a:rPr>
              <a:t>Impact measurement:</a:t>
            </a:r>
            <a:pPr algn="l" indent="0" marL="0">
              <a:lnSpc>
                <a:spcPts val="1950"/>
              </a:lnSpc>
              <a:buNone/>
            </a:pPr>
            <a:r>
              <a:rPr lang="en-US" sz="1300" dirty="0">
                <a:solidFill>
                  <a:srgbClr val="000000"/>
                </a:solidFill>
                <a:latin typeface="Open Sans" pitchFamily="34" charset="0"/>
                <a:ea typeface="Open Sans" pitchFamily="34" charset="-122"/>
                <a:cs typeface="Open Sans" pitchFamily="34" charset="-120"/>
              </a:rPr>
              <a:t> KPIs, evaluation approach, and reporting commitments</a:t>
            </a:r>
            <a:endParaRPr lang="en-US" sz="1300" dirty="0"/>
          </a:p>
        </p:txBody>
      </p:sp>
      <p:sp>
        <p:nvSpPr>
          <p:cNvPr id="9" name="Text 7"/>
          <p:cNvSpPr/>
          <p:nvPr/>
        </p:nvSpPr>
        <p:spPr>
          <a:xfrm>
            <a:off x="7530822" y="2437805"/>
            <a:ext cx="4122896"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Financial Planning &amp; Budgeting</a:t>
            </a:r>
            <a:endParaRPr lang="en-US" sz="1650" dirty="0"/>
          </a:p>
        </p:txBody>
      </p:sp>
      <p:sp>
        <p:nvSpPr>
          <p:cNvPr id="10" name="Text 8"/>
          <p:cNvSpPr/>
          <p:nvPr/>
        </p:nvSpPr>
        <p:spPr>
          <a:xfrm>
            <a:off x="7530822" y="2850833"/>
            <a:ext cx="6424970" cy="1268611"/>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Social enterprises must plan for multiple revenue streams to reduce dependency risk. Budgeting should distinguish between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core operating costs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programme delivery costs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and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growth/investment expenditure</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Cash flow management is especially critical in grant-funded models where disbursements lag behind expenditure.</a:t>
            </a:r>
            <a:endParaRPr lang="en-US" sz="1300" dirty="0"/>
          </a:p>
        </p:txBody>
      </p:sp>
      <p:sp>
        <p:nvSpPr>
          <p:cNvPr id="11" name="Text 9"/>
          <p:cNvSpPr/>
          <p:nvPr/>
        </p:nvSpPr>
        <p:spPr>
          <a:xfrm>
            <a:off x="7530822" y="4266009"/>
            <a:ext cx="5235535"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Marketing Strategies for Social Impact</a:t>
            </a:r>
            <a:endParaRPr lang="en-US" sz="1650" dirty="0"/>
          </a:p>
        </p:txBody>
      </p:sp>
      <p:sp>
        <p:nvSpPr>
          <p:cNvPr id="12" name="Text 10"/>
          <p:cNvSpPr/>
          <p:nvPr/>
        </p:nvSpPr>
        <p:spPr>
          <a:xfrm>
            <a:off x="7530822" y="4679037"/>
            <a:ext cx="6424970" cy="1268611"/>
          </a:xfrm>
          <a:prstGeom prst="rect">
            <a:avLst/>
          </a:prstGeom>
          <a:noFill/>
          <a:ln/>
        </p:spPr>
        <p:txBody>
          <a:bodyPr wrap="square" lIns="0" tIns="0" rIns="0" bIns="0" rtlCol="0" anchor="t"/>
          <a:lstStyle/>
          <a:p>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Effective social enterprise marketing speaks to both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beneficiaries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(who receive the service) and </a:t>
            </a:r>
            <a:pPr algn="l" indent="0" marL="0">
              <a:lnSpc>
                <a:spcPts val="1950"/>
              </a:lnSpc>
              <a:buNone/>
            </a:pPr>
            <a:r>
              <a:rPr lang="en-US" sz="1300" b="1" dirty="0">
                <a:solidFill>
                  <a:srgbClr val="333F70"/>
                </a:solidFill>
                <a:latin typeface="Open Sans" pitchFamily="34" charset="0"/>
                <a:ea typeface="Open Sans" pitchFamily="34" charset="-122"/>
                <a:cs typeface="Open Sans" pitchFamily="34" charset="-120"/>
              </a:rPr>
              <a:t>funders or customers</a:t>
            </a:r>
            <a:pPr algn="l" indent="0" marL="0">
              <a:lnSpc>
                <a:spcPts val="1950"/>
              </a:lnSpc>
              <a:buNone/>
            </a:pPr>
            <a:r>
              <a:rPr lang="en-US" sz="1300" dirty="0">
                <a:solidFill>
                  <a:srgbClr val="333F70"/>
                </a:solidFill>
                <a:latin typeface="Open Sans" pitchFamily="34" charset="0"/>
                <a:ea typeface="Open Sans" pitchFamily="34" charset="-122"/>
                <a:cs typeface="Open Sans" pitchFamily="34" charset="-120"/>
              </a:rPr>
              <a:t> (who finance it). Storytelling, impact data, and authentic community voices are powerful tools. Purpose-driven branding increasingly differentiates social ventures in competitive markets, attracting mission-aligned talent and partners alongside customers.</a:t>
            </a:r>
            <a:endParaRPr lang="en-US" sz="1300" dirty="0"/>
          </a:p>
        </p:txBody>
      </p:sp>
      <p:sp>
        <p:nvSpPr>
          <p:cNvPr id="13" name="Text 11"/>
          <p:cNvSpPr/>
          <p:nvPr/>
        </p:nvSpPr>
        <p:spPr>
          <a:xfrm>
            <a:off x="7530822" y="6094214"/>
            <a:ext cx="2131933" cy="266462"/>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Key Challenges</a:t>
            </a:r>
            <a:endParaRPr lang="en-US" sz="1650" dirty="0"/>
          </a:p>
        </p:txBody>
      </p:sp>
      <p:sp>
        <p:nvSpPr>
          <p:cNvPr id="14" name="Text 12"/>
          <p:cNvSpPr/>
          <p:nvPr/>
        </p:nvSpPr>
        <p:spPr>
          <a:xfrm>
            <a:off x="7530822" y="6507242"/>
            <a:ext cx="6424970" cy="1168479"/>
          </a:xfrm>
          <a:prstGeom prst="rect">
            <a:avLst/>
          </a:prstGeom>
          <a:noFill/>
          <a:ln/>
        </p:spPr>
        <p:txBody>
          <a:bodyPr wrap="square" lIns="0" tIns="0" rIns="0" bIns="0" rtlCol="0" anchor="t"/>
          <a:lstStyle/>
          <a:p>
            <a:pPr algn="l" marL="342900" indent="-342900">
              <a:lnSpc>
                <a:spcPts val="1950"/>
              </a:lnSpc>
              <a:buSzPct val="100000"/>
              <a:buChar char="•"/>
            </a:pPr>
            <a:r>
              <a:rPr lang="en-US" sz="1300" dirty="0">
                <a:solidFill>
                  <a:srgbClr val="333F70"/>
                </a:solidFill>
                <a:latin typeface="Open Sans" pitchFamily="34" charset="0"/>
                <a:ea typeface="Open Sans" pitchFamily="34" charset="-122"/>
                <a:cs typeface="Open Sans" pitchFamily="34" charset="-120"/>
              </a:rPr>
              <a:t>Balancing mission integrity with commercial pressures ("mission drift")</a:t>
            </a:r>
            <a:endParaRPr lang="en-US" sz="1300" dirty="0"/>
          </a:p>
          <a:p>
            <a:pPr algn="l" marL="342900" indent="-342900">
              <a:lnSpc>
                <a:spcPts val="1950"/>
              </a:lnSpc>
              <a:buSzPct val="100000"/>
              <a:buChar char="•"/>
            </a:pPr>
            <a:r>
              <a:rPr lang="en-US" sz="1300" dirty="0">
                <a:solidFill>
                  <a:srgbClr val="333F70"/>
                </a:solidFill>
                <a:latin typeface="Open Sans" pitchFamily="34" charset="0"/>
                <a:ea typeface="Open Sans" pitchFamily="34" charset="-122"/>
                <a:cs typeface="Open Sans" pitchFamily="34" charset="-120"/>
              </a:rPr>
              <a:t>Securing patient capital that tolerates longer payback periods</a:t>
            </a:r>
            <a:endParaRPr lang="en-US" sz="1300" dirty="0"/>
          </a:p>
          <a:p>
            <a:pPr algn="l" marL="342900" indent="-342900">
              <a:lnSpc>
                <a:spcPts val="1950"/>
              </a:lnSpc>
              <a:buSzPct val="100000"/>
              <a:buChar char="•"/>
            </a:pPr>
            <a:r>
              <a:rPr lang="en-US" sz="1300" dirty="0">
                <a:solidFill>
                  <a:srgbClr val="333F70"/>
                </a:solidFill>
                <a:latin typeface="Open Sans" pitchFamily="34" charset="0"/>
                <a:ea typeface="Open Sans" pitchFamily="34" charset="-122"/>
                <a:cs typeface="Open Sans" pitchFamily="34" charset="-120"/>
              </a:rPr>
              <a:t>Building operational capacity without over-investing in overhead</a:t>
            </a:r>
            <a:endParaRPr lang="en-US" sz="1300" dirty="0"/>
          </a:p>
          <a:p>
            <a:pPr algn="l" marL="342900" indent="-342900">
              <a:lnSpc>
                <a:spcPts val="1950"/>
              </a:lnSpc>
              <a:buSzPct val="100000"/>
              <a:buChar char="•"/>
            </a:pPr>
            <a:r>
              <a:rPr lang="en-US" sz="1300" dirty="0">
                <a:solidFill>
                  <a:srgbClr val="333F70"/>
                </a:solidFill>
                <a:latin typeface="Open Sans" pitchFamily="34" charset="0"/>
                <a:ea typeface="Open Sans" pitchFamily="34" charset="-122"/>
                <a:cs typeface="Open Sans" pitchFamily="34" charset="-120"/>
              </a:rPr>
              <a:t>Attracting and retaining talent willing to accept below-market salaries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94611" y="564356"/>
            <a:ext cx="691277" cy="312420"/>
          </a:xfrm>
          <a:prstGeom prst="roundRect">
            <a:avLst>
              <a:gd name="adj" fmla="val 18677"/>
            </a:avLst>
          </a:prstGeom>
          <a:solidFill>
            <a:srgbClr val="D6F5EE"/>
          </a:solidFill>
          <a:ln/>
        </p:spPr>
      </p:sp>
      <p:sp>
        <p:nvSpPr>
          <p:cNvPr id="3" name="Text 1"/>
          <p:cNvSpPr/>
          <p:nvPr/>
        </p:nvSpPr>
        <p:spPr>
          <a:xfrm>
            <a:off x="798790" y="616387"/>
            <a:ext cx="482917" cy="208359"/>
          </a:xfrm>
          <a:prstGeom prst="rect">
            <a:avLst/>
          </a:prstGeom>
          <a:noFill/>
          <a:ln/>
        </p:spPr>
        <p:txBody>
          <a:bodyPr wrap="none" lIns="0" tIns="0" rIns="0" bIns="0" rtlCol="0" anchor="t"/>
          <a:lstStyle/>
          <a:p>
            <a:pPr algn="l" indent="0" marL="0">
              <a:lnSpc>
                <a:spcPts val="1600"/>
              </a:lnSpc>
              <a:buNone/>
            </a:pPr>
            <a:r>
              <a:rPr lang="en-US" sz="1050" dirty="0">
                <a:solidFill>
                  <a:srgbClr val="333F70"/>
                </a:solidFill>
                <a:latin typeface="Open Sans" pitchFamily="34" charset="0"/>
                <a:ea typeface="Open Sans" pitchFamily="34" charset="-122"/>
                <a:cs typeface="Open Sans" pitchFamily="34" charset="-120"/>
              </a:rPr>
              <a:t>WEEK 6</a:t>
            </a:r>
            <a:endParaRPr lang="en-US" sz="1050" dirty="0"/>
          </a:p>
        </p:txBody>
      </p:sp>
      <p:sp>
        <p:nvSpPr>
          <p:cNvPr id="4" name="Text 2"/>
          <p:cNvSpPr/>
          <p:nvPr/>
        </p:nvSpPr>
        <p:spPr>
          <a:xfrm>
            <a:off x="694611" y="937498"/>
            <a:ext cx="11138178" cy="542687"/>
          </a:xfrm>
          <a:prstGeom prst="rect">
            <a:avLst/>
          </a:prstGeom>
          <a:noFill/>
          <a:ln/>
        </p:spPr>
        <p:txBody>
          <a:bodyPr wrap="none" lIns="0" tIns="0" rIns="0" bIns="0" rtlCol="0" anchor="t"/>
          <a:lstStyle/>
          <a:p>
            <a:pPr algn="l" indent="0" marL="0">
              <a:lnSpc>
                <a:spcPts val="4250"/>
              </a:lnSpc>
              <a:buNone/>
            </a:pPr>
            <a:r>
              <a:rPr lang="en-US" sz="3400" b="1" dirty="0">
                <a:solidFill>
                  <a:srgbClr val="333F70"/>
                </a:solidFill>
                <a:latin typeface="Unbounded Bold" pitchFamily="34" charset="0"/>
                <a:ea typeface="Unbounded Bold" pitchFamily="34" charset="-122"/>
                <a:cs typeface="Unbounded Bold" pitchFamily="34" charset="-120"/>
              </a:rPr>
              <a:t>Organisational Structures &amp; Governance</a:t>
            </a:r>
            <a:endParaRPr lang="en-US" sz="3400" dirty="0"/>
          </a:p>
        </p:txBody>
      </p:sp>
      <p:sp>
        <p:nvSpPr>
          <p:cNvPr id="5" name="Text 3"/>
          <p:cNvSpPr/>
          <p:nvPr/>
        </p:nvSpPr>
        <p:spPr>
          <a:xfrm>
            <a:off x="694611" y="1708071"/>
            <a:ext cx="13241179" cy="521017"/>
          </a:xfrm>
          <a:prstGeom prst="rect">
            <a:avLst/>
          </a:prstGeom>
          <a:noFill/>
          <a:ln/>
        </p:spPr>
        <p:txBody>
          <a:bodyPr wrap="square" lIns="0" tIns="0" rIns="0" bIns="0" rtlCol="0" anchor="t"/>
          <a:lstStyle/>
          <a:p>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Choosing the right legal and organisational form is one of the most consequential early decisions a social entrepreneur makes. Structure shapes what funding you can access, how profits can be distributed, what governance obligations apply, and how mission protection is enshrined in founding documents.</a:t>
            </a:r>
            <a:endParaRPr lang="en-US" sz="1350" dirty="0"/>
          </a:p>
        </p:txBody>
      </p:sp>
      <p:sp>
        <p:nvSpPr>
          <p:cNvPr id="6" name="Shape 4"/>
          <p:cNvSpPr/>
          <p:nvPr/>
        </p:nvSpPr>
        <p:spPr>
          <a:xfrm>
            <a:off x="694611" y="2399943"/>
            <a:ext cx="4312444" cy="2298502"/>
          </a:xfrm>
          <a:prstGeom prst="roundRect">
            <a:avLst>
              <a:gd name="adj" fmla="val 3173"/>
            </a:avLst>
          </a:prstGeom>
          <a:solidFill>
            <a:srgbClr val="D6F5EE"/>
          </a:solidFill>
          <a:ln w="7620">
            <a:solidFill>
              <a:srgbClr val="BCDBD4"/>
            </a:solidFill>
            <a:prstDash val="solid"/>
          </a:ln>
        </p:spPr>
      </p:sp>
      <p:sp>
        <p:nvSpPr>
          <p:cNvPr id="7" name="Text 5"/>
          <p:cNvSpPr/>
          <p:nvPr/>
        </p:nvSpPr>
        <p:spPr>
          <a:xfrm>
            <a:off x="875824" y="2581156"/>
            <a:ext cx="2987635" cy="271224"/>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Nonprofit / Charitable</a:t>
            </a:r>
            <a:endParaRPr lang="en-US" sz="1700" dirty="0"/>
          </a:p>
        </p:txBody>
      </p:sp>
      <p:sp>
        <p:nvSpPr>
          <p:cNvPr id="8" name="Text 6"/>
          <p:cNvSpPr/>
          <p:nvPr/>
        </p:nvSpPr>
        <p:spPr>
          <a:xfrm>
            <a:off x="875824" y="2943463"/>
            <a:ext cx="3950018" cy="1302544"/>
          </a:xfrm>
          <a:prstGeom prst="rect">
            <a:avLst/>
          </a:prstGeom>
          <a:noFill/>
          <a:ln/>
        </p:spPr>
        <p:txBody>
          <a:bodyPr wrap="square" lIns="0" tIns="0" rIns="0" bIns="0" rtlCol="0" anchor="t"/>
          <a:lstStyle/>
          <a:p>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Mission-locked by law; surplus reinvested into activities. Eligible for grants and tax-exempt donations. Governed by a voluntary board. Risk: dependency on philanthropic cycles and limited ability to attract equity investment.</a:t>
            </a:r>
            <a:endParaRPr lang="en-US" sz="1350" dirty="0"/>
          </a:p>
        </p:txBody>
      </p:sp>
      <p:sp>
        <p:nvSpPr>
          <p:cNvPr id="9" name="Shape 7"/>
          <p:cNvSpPr/>
          <p:nvPr/>
        </p:nvSpPr>
        <p:spPr>
          <a:xfrm>
            <a:off x="5158978" y="2399943"/>
            <a:ext cx="4312444" cy="2298502"/>
          </a:xfrm>
          <a:prstGeom prst="roundRect">
            <a:avLst>
              <a:gd name="adj" fmla="val 3173"/>
            </a:avLst>
          </a:prstGeom>
          <a:solidFill>
            <a:srgbClr val="D6F5EE"/>
          </a:solidFill>
          <a:ln w="7620">
            <a:solidFill>
              <a:srgbClr val="BCDBD4"/>
            </a:solidFill>
            <a:prstDash val="solid"/>
          </a:ln>
        </p:spPr>
      </p:sp>
      <p:sp>
        <p:nvSpPr>
          <p:cNvPr id="10" name="Text 8"/>
          <p:cNvSpPr/>
          <p:nvPr/>
        </p:nvSpPr>
        <p:spPr>
          <a:xfrm>
            <a:off x="5340191" y="2581156"/>
            <a:ext cx="3950018" cy="542449"/>
          </a:xfrm>
          <a:prstGeom prst="rect">
            <a:avLst/>
          </a:prstGeom>
          <a:noFill/>
          <a:ln/>
        </p:spPr>
        <p:txBody>
          <a:bodyPr wrap="squar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For-Profit with Social Mission</a:t>
            </a:r>
            <a:endParaRPr lang="en-US" sz="1700" dirty="0"/>
          </a:p>
        </p:txBody>
      </p:sp>
      <p:sp>
        <p:nvSpPr>
          <p:cNvPr id="11" name="Text 9"/>
          <p:cNvSpPr/>
          <p:nvPr/>
        </p:nvSpPr>
        <p:spPr>
          <a:xfrm>
            <a:off x="5340191" y="3214688"/>
            <a:ext cx="3950018" cy="1302544"/>
          </a:xfrm>
          <a:prstGeom prst="rect">
            <a:avLst/>
          </a:prstGeom>
          <a:noFill/>
          <a:ln/>
        </p:spPr>
        <p:txBody>
          <a:bodyPr wrap="square" lIns="0" tIns="0" rIns="0" bIns="0" rtlCol="0" anchor="t"/>
          <a:lstStyle/>
          <a:p>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Access to equity markets and commercial debt. Greater operational flexibility. Risk: investor pressure can dilute social mission over time unless protective governance structures (e.g., B Corp certification) are in place.</a:t>
            </a:r>
            <a:endParaRPr lang="en-US" sz="1350" dirty="0"/>
          </a:p>
        </p:txBody>
      </p:sp>
      <p:sp>
        <p:nvSpPr>
          <p:cNvPr id="12" name="Shape 10"/>
          <p:cNvSpPr/>
          <p:nvPr/>
        </p:nvSpPr>
        <p:spPr>
          <a:xfrm>
            <a:off x="9623346" y="2399943"/>
            <a:ext cx="4312444" cy="2298502"/>
          </a:xfrm>
          <a:prstGeom prst="roundRect">
            <a:avLst>
              <a:gd name="adj" fmla="val 3173"/>
            </a:avLst>
          </a:prstGeom>
          <a:solidFill>
            <a:srgbClr val="D6F5EE"/>
          </a:solidFill>
          <a:ln w="7620">
            <a:solidFill>
              <a:srgbClr val="BCDBD4"/>
            </a:solidFill>
            <a:prstDash val="solid"/>
          </a:ln>
        </p:spPr>
      </p:sp>
      <p:sp>
        <p:nvSpPr>
          <p:cNvPr id="13" name="Text 11"/>
          <p:cNvSpPr/>
          <p:nvPr/>
        </p:nvSpPr>
        <p:spPr>
          <a:xfrm>
            <a:off x="9804559" y="2581156"/>
            <a:ext cx="2170748" cy="271224"/>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Hybrid Models</a:t>
            </a:r>
            <a:endParaRPr lang="en-US" sz="1700" dirty="0"/>
          </a:p>
        </p:txBody>
      </p:sp>
      <p:sp>
        <p:nvSpPr>
          <p:cNvPr id="14" name="Text 12"/>
          <p:cNvSpPr/>
          <p:nvPr/>
        </p:nvSpPr>
        <p:spPr>
          <a:xfrm>
            <a:off x="9804559" y="2943463"/>
            <a:ext cx="3950018" cy="1563053"/>
          </a:xfrm>
          <a:prstGeom prst="rect">
            <a:avLst/>
          </a:prstGeom>
          <a:noFill/>
          <a:ln/>
        </p:spPr>
        <p:txBody>
          <a:bodyPr wrap="square" lIns="0" tIns="0" rIns="0" bIns="0" rtlCol="0" anchor="t"/>
          <a:lstStyle/>
          <a:p>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Structures such as Community Interest Companies (UK), Benefit Corporations (US), or Social Cooperatives blend mission protection with commercial flexibility. Increasingly favoured by impact investors seeking both returns and accountability.</a:t>
            </a:r>
            <a:endParaRPr lang="en-US" sz="1350" dirty="0"/>
          </a:p>
        </p:txBody>
      </p:sp>
      <p:sp>
        <p:nvSpPr>
          <p:cNvPr id="15" name="Text 13"/>
          <p:cNvSpPr/>
          <p:nvPr/>
        </p:nvSpPr>
        <p:spPr>
          <a:xfrm>
            <a:off x="694611" y="5021223"/>
            <a:ext cx="4838938" cy="271224"/>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Legal Considerations &amp; Compliance</a:t>
            </a:r>
            <a:endParaRPr lang="en-US" sz="1700" dirty="0"/>
          </a:p>
        </p:txBody>
      </p:sp>
      <p:sp>
        <p:nvSpPr>
          <p:cNvPr id="16" name="Text 14"/>
          <p:cNvSpPr/>
          <p:nvPr/>
        </p:nvSpPr>
        <p:spPr>
          <a:xfrm>
            <a:off x="694611" y="5444371"/>
            <a:ext cx="6408777" cy="1302544"/>
          </a:xfrm>
          <a:prstGeom prst="rect">
            <a:avLst/>
          </a:prstGeom>
          <a:noFill/>
          <a:ln/>
        </p:spPr>
        <p:txBody>
          <a:bodyPr wrap="square" lIns="0" tIns="0" rIns="0" bIns="0" rtlCol="0" anchor="t"/>
          <a:lstStyle/>
          <a:p>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Social enterprises must navigate sector-specific regulation, charity law, employment law, tax treatment of surplus, and increasingly, ESG disclosure requirements. Early legal advice is essential — retrofitting governance structures is costly and disruptive. Intellectual property, data protection, and contractual frameworks with partners and funders all require careful attention.</a:t>
            </a:r>
            <a:endParaRPr lang="en-US" sz="1350" dirty="0"/>
          </a:p>
        </p:txBody>
      </p:sp>
      <p:sp>
        <p:nvSpPr>
          <p:cNvPr id="17" name="Text 15"/>
          <p:cNvSpPr/>
          <p:nvPr/>
        </p:nvSpPr>
        <p:spPr>
          <a:xfrm>
            <a:off x="7534632" y="5021223"/>
            <a:ext cx="6355080" cy="271224"/>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Governance Models &amp; Selecting Your Structure</a:t>
            </a:r>
            <a:endParaRPr lang="en-US" sz="1700" dirty="0"/>
          </a:p>
        </p:txBody>
      </p:sp>
      <p:sp>
        <p:nvSpPr>
          <p:cNvPr id="18" name="Text 16"/>
          <p:cNvSpPr/>
          <p:nvPr/>
        </p:nvSpPr>
        <p:spPr>
          <a:xfrm>
            <a:off x="7534632" y="5444371"/>
            <a:ext cx="6408777" cy="2084070"/>
          </a:xfrm>
          <a:prstGeom prst="rect">
            <a:avLst/>
          </a:prstGeom>
          <a:noFill/>
          <a:ln/>
        </p:spPr>
        <p:txBody>
          <a:bodyPr wrap="square" lIns="0" tIns="0" rIns="0" bIns="0" rtlCol="0" anchor="t"/>
          <a:lstStyle/>
          <a:p>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Effective governance balances </a:t>
            </a:r>
            <a:pPr algn="l" indent="0" marL="0">
              <a:lnSpc>
                <a:spcPts val="2050"/>
              </a:lnSpc>
              <a:buNone/>
            </a:pPr>
            <a:r>
              <a:rPr lang="en-US" sz="1350" b="1" dirty="0">
                <a:solidFill>
                  <a:srgbClr val="333F70"/>
                </a:solidFill>
                <a:latin typeface="Open Sans" pitchFamily="34" charset="0"/>
                <a:ea typeface="Open Sans" pitchFamily="34" charset="-122"/>
                <a:cs typeface="Open Sans" pitchFamily="34" charset="-120"/>
              </a:rPr>
              <a:t>accountability</a:t>
            </a:r>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 (to beneficiaries, funders, and the public), </a:t>
            </a:r>
            <a:pPr algn="l" indent="0" marL="0">
              <a:lnSpc>
                <a:spcPts val="2050"/>
              </a:lnSpc>
              <a:buNone/>
            </a:pPr>
            <a:r>
              <a:rPr lang="en-US" sz="1350" b="1" dirty="0">
                <a:solidFill>
                  <a:srgbClr val="333F70"/>
                </a:solidFill>
                <a:latin typeface="Open Sans" pitchFamily="34" charset="0"/>
                <a:ea typeface="Open Sans" pitchFamily="34" charset="-122"/>
                <a:cs typeface="Open Sans" pitchFamily="34" charset="-120"/>
              </a:rPr>
              <a:t>strategic oversight</a:t>
            </a:r>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 (ensuring mission alignment), and </a:t>
            </a:r>
            <a:pPr algn="l" indent="0" marL="0">
              <a:lnSpc>
                <a:spcPts val="2050"/>
              </a:lnSpc>
              <a:buNone/>
            </a:pPr>
            <a:r>
              <a:rPr lang="en-US" sz="1350" b="1" dirty="0">
                <a:solidFill>
                  <a:srgbClr val="333F70"/>
                </a:solidFill>
                <a:latin typeface="Open Sans" pitchFamily="34" charset="0"/>
                <a:ea typeface="Open Sans" pitchFamily="34" charset="-122"/>
                <a:cs typeface="Open Sans" pitchFamily="34" charset="-120"/>
              </a:rPr>
              <a:t>operational independence</a:t>
            </a:r>
            <a:pPr algn="l" indent="0" marL="0">
              <a:lnSpc>
                <a:spcPts val="2050"/>
              </a:lnSpc>
              <a:buNone/>
            </a:pPr>
            <a:r>
              <a:rPr lang="en-US" sz="1350" dirty="0">
                <a:solidFill>
                  <a:srgbClr val="333F70"/>
                </a:solidFill>
                <a:latin typeface="Open Sans" pitchFamily="34" charset="0"/>
                <a:ea typeface="Open Sans" pitchFamily="34" charset="-122"/>
                <a:cs typeface="Open Sans" pitchFamily="34" charset="-120"/>
              </a:rPr>
              <a:t> (allowing management to act decisively). Key governance instruments include a diverse and skilled board, clear conflict-of-interest policies, transparent financial reporting, and robust beneficiary feedback mechanisms. The right structure is always mission-contingent — there is no universal answer, only the most appropriate fit for your specific context, stage, and stakeholder ecosystem.</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12351" y="487561"/>
            <a:ext cx="666750" cy="297775"/>
          </a:xfrm>
          <a:prstGeom prst="roundRect">
            <a:avLst>
              <a:gd name="adj" fmla="val 18896"/>
            </a:avLst>
          </a:prstGeom>
          <a:solidFill>
            <a:srgbClr val="D6F5EE"/>
          </a:solidFill>
          <a:ln/>
        </p:spPr>
      </p:sp>
      <p:sp>
        <p:nvSpPr>
          <p:cNvPr id="3" name="Text 1"/>
          <p:cNvSpPr/>
          <p:nvPr/>
        </p:nvSpPr>
        <p:spPr>
          <a:xfrm>
            <a:off x="812721" y="537686"/>
            <a:ext cx="466011" cy="197525"/>
          </a:xfrm>
          <a:prstGeom prst="rect">
            <a:avLst/>
          </a:prstGeom>
          <a:noFill/>
          <a:ln/>
        </p:spPr>
        <p:txBody>
          <a:bodyPr wrap="none" lIns="0" tIns="0" rIns="0" bIns="0" rtlCol="0" anchor="t"/>
          <a:lstStyle/>
          <a:p>
            <a:pPr algn="l" indent="0" marL="0">
              <a:lnSpc>
                <a:spcPts val="1550"/>
              </a:lnSpc>
              <a:buNone/>
            </a:pPr>
            <a:r>
              <a:rPr lang="en-US" sz="1050" dirty="0">
                <a:solidFill>
                  <a:srgbClr val="333F70"/>
                </a:solidFill>
                <a:latin typeface="Open Sans" pitchFamily="34" charset="0"/>
                <a:ea typeface="Open Sans" pitchFamily="34" charset="-122"/>
                <a:cs typeface="Open Sans" pitchFamily="34" charset="-120"/>
              </a:rPr>
              <a:t>WEEK 7</a:t>
            </a:r>
            <a:endParaRPr lang="en-US" sz="1050" dirty="0"/>
          </a:p>
        </p:txBody>
      </p:sp>
      <p:sp>
        <p:nvSpPr>
          <p:cNvPr id="4" name="Text 2"/>
          <p:cNvSpPr/>
          <p:nvPr/>
        </p:nvSpPr>
        <p:spPr>
          <a:xfrm>
            <a:off x="712351" y="841772"/>
            <a:ext cx="8868608" cy="523280"/>
          </a:xfrm>
          <a:prstGeom prst="rect">
            <a:avLst/>
          </a:prstGeom>
          <a:noFill/>
          <a:ln/>
        </p:spPr>
        <p:txBody>
          <a:bodyPr wrap="none" lIns="0" tIns="0" rIns="0" bIns="0" rtlCol="0" anchor="t"/>
          <a:lstStyle/>
          <a:p>
            <a:pPr algn="l" indent="0" marL="0">
              <a:lnSpc>
                <a:spcPts val="4100"/>
              </a:lnSpc>
              <a:buNone/>
            </a:pPr>
            <a:r>
              <a:rPr lang="en-US" sz="3250" b="1" dirty="0">
                <a:solidFill>
                  <a:srgbClr val="333F70"/>
                </a:solidFill>
                <a:latin typeface="Unbounded Bold" pitchFamily="34" charset="0"/>
                <a:ea typeface="Unbounded Bold" pitchFamily="34" charset="-122"/>
                <a:cs typeface="Unbounded Bold" pitchFamily="34" charset="-120"/>
              </a:rPr>
              <a:t>Funding &amp; Scaling Social Ventures</a:t>
            </a:r>
            <a:endParaRPr lang="en-US" sz="3250" dirty="0"/>
          </a:p>
        </p:txBody>
      </p:sp>
      <p:sp>
        <p:nvSpPr>
          <p:cNvPr id="5" name="Text 3"/>
          <p:cNvSpPr/>
          <p:nvPr/>
        </p:nvSpPr>
        <p:spPr>
          <a:xfrm>
            <a:off x="712351" y="1576983"/>
            <a:ext cx="13205579" cy="494109"/>
          </a:xfrm>
          <a:prstGeom prst="rect">
            <a:avLst/>
          </a:prstGeom>
          <a:noFill/>
          <a:ln/>
        </p:spPr>
        <p:txBody>
          <a:bodyPr wrap="square" lIns="0" tIns="0" rIns="0" bIns="0" rtlCol="0" anchor="t"/>
          <a:lstStyle/>
          <a:p>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Access to capital is consistently cited as the primary growth constraint for social enterprises. This week maps the funding landscape, develops proposal-writing skills, and examines the strategic decisions involved in scaling impact responsibly.</a:t>
            </a:r>
            <a:endParaRPr lang="en-US" sz="1300" dirty="0"/>
          </a:p>
        </p:txBody>
      </p:sp>
      <p:sp>
        <p:nvSpPr>
          <p:cNvPr id="6" name="Shape 4"/>
          <p:cNvSpPr/>
          <p:nvPr/>
        </p:nvSpPr>
        <p:spPr>
          <a:xfrm>
            <a:off x="712351" y="2230041"/>
            <a:ext cx="6532126" cy="2438281"/>
          </a:xfrm>
          <a:prstGeom prst="roundRect">
            <a:avLst>
              <a:gd name="adj" fmla="val 2885"/>
            </a:avLst>
          </a:prstGeom>
          <a:solidFill>
            <a:srgbClr val="FFFFFF"/>
          </a:solidFill>
          <a:ln w="22860">
            <a:solidFill>
              <a:srgbClr val="BCDBD4"/>
            </a:solidFill>
            <a:prstDash val="solid"/>
          </a:ln>
        </p:spPr>
      </p:sp>
      <p:sp>
        <p:nvSpPr>
          <p:cNvPr id="7" name="Shape 5"/>
          <p:cNvSpPr/>
          <p:nvPr/>
        </p:nvSpPr>
        <p:spPr>
          <a:xfrm>
            <a:off x="735211" y="2252901"/>
            <a:ext cx="6486406" cy="502325"/>
          </a:xfrm>
          <a:prstGeom prst="roundRect">
            <a:avLst>
              <a:gd name="adj" fmla="val 8541"/>
            </a:avLst>
          </a:prstGeom>
          <a:solidFill>
            <a:srgbClr val="D6F5EE"/>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52863" y="2374702"/>
            <a:ext cx="251103" cy="251103"/>
          </a:xfrm>
          <a:prstGeom prst="rect">
            <a:avLst/>
          </a:prstGeom>
        </p:spPr>
      </p:pic>
      <p:sp>
        <p:nvSpPr>
          <p:cNvPr id="9" name="Text 6"/>
          <p:cNvSpPr/>
          <p:nvPr/>
        </p:nvSpPr>
        <p:spPr>
          <a:xfrm>
            <a:off x="902613" y="2896433"/>
            <a:ext cx="2920127" cy="261580"/>
          </a:xfrm>
          <a:prstGeom prst="rect">
            <a:avLst/>
          </a:prstGeom>
          <a:noFill/>
          <a:ln/>
        </p:spPr>
        <p:txBody>
          <a:bodyPr wrap="none" lIns="0" tIns="0" rIns="0" bIns="0" rtlCol="0" anchor="t"/>
          <a:lstStyle/>
          <a:p>
            <a:pPr algn="l" indent="0" marL="0">
              <a:lnSpc>
                <a:spcPts val="2050"/>
              </a:lnSpc>
              <a:buNone/>
            </a:pPr>
            <a:r>
              <a:rPr lang="en-US" sz="1600" b="1" dirty="0">
                <a:solidFill>
                  <a:srgbClr val="333F70"/>
                </a:solidFill>
                <a:latin typeface="Unbounded Bold" pitchFamily="34" charset="0"/>
                <a:ea typeface="Unbounded Bold" pitchFamily="34" charset="-122"/>
                <a:cs typeface="Unbounded Bold" pitchFamily="34" charset="-120"/>
              </a:rPr>
              <a:t>Grants &amp; Philanthropy</a:t>
            </a:r>
            <a:endParaRPr lang="en-US" sz="1600" dirty="0"/>
          </a:p>
        </p:txBody>
      </p:sp>
      <p:sp>
        <p:nvSpPr>
          <p:cNvPr id="10" name="Text 7"/>
          <p:cNvSpPr/>
          <p:nvPr/>
        </p:nvSpPr>
        <p:spPr>
          <a:xfrm>
            <a:off x="902613" y="3242786"/>
            <a:ext cx="6151602" cy="988219"/>
          </a:xfrm>
          <a:prstGeom prst="rect">
            <a:avLst/>
          </a:prstGeom>
          <a:noFill/>
          <a:ln/>
        </p:spPr>
        <p:txBody>
          <a:bodyPr wrap="square" lIns="0" tIns="0" rIns="0" bIns="0" rtlCol="0" anchor="t"/>
          <a:lstStyle/>
          <a:p>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Foundation grants, government funding, and corporate philanthropy remain vital — especially for early-stage ventures proving their model. Effective proposals are evidence-based, outcome-focused, and demonstrate organisational credibility alongside programme logic.</a:t>
            </a:r>
            <a:endParaRPr lang="en-US" sz="1300" dirty="0"/>
          </a:p>
        </p:txBody>
      </p:sp>
      <p:sp>
        <p:nvSpPr>
          <p:cNvPr id="11" name="Shape 8"/>
          <p:cNvSpPr/>
          <p:nvPr/>
        </p:nvSpPr>
        <p:spPr>
          <a:xfrm>
            <a:off x="7385685" y="2230041"/>
            <a:ext cx="6532245" cy="2438281"/>
          </a:xfrm>
          <a:prstGeom prst="roundRect">
            <a:avLst>
              <a:gd name="adj" fmla="val 2885"/>
            </a:avLst>
          </a:prstGeom>
          <a:solidFill>
            <a:srgbClr val="FFFFFF"/>
          </a:solidFill>
          <a:ln w="22860">
            <a:solidFill>
              <a:srgbClr val="BCDBD4"/>
            </a:solidFill>
            <a:prstDash val="solid"/>
          </a:ln>
        </p:spPr>
      </p:sp>
      <p:sp>
        <p:nvSpPr>
          <p:cNvPr id="12" name="Shape 9"/>
          <p:cNvSpPr/>
          <p:nvPr/>
        </p:nvSpPr>
        <p:spPr>
          <a:xfrm>
            <a:off x="7408545" y="2252901"/>
            <a:ext cx="6486525" cy="502325"/>
          </a:xfrm>
          <a:prstGeom prst="roundRect">
            <a:avLst>
              <a:gd name="adj" fmla="val 8541"/>
            </a:avLst>
          </a:prstGeom>
          <a:solidFill>
            <a:srgbClr val="D6F5EE"/>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6197" y="2374702"/>
            <a:ext cx="251103" cy="251103"/>
          </a:xfrm>
          <a:prstGeom prst="rect">
            <a:avLst/>
          </a:prstGeom>
        </p:spPr>
      </p:pic>
      <p:sp>
        <p:nvSpPr>
          <p:cNvPr id="14" name="Text 10"/>
          <p:cNvSpPr/>
          <p:nvPr/>
        </p:nvSpPr>
        <p:spPr>
          <a:xfrm>
            <a:off x="7575947" y="2896433"/>
            <a:ext cx="2516386" cy="261580"/>
          </a:xfrm>
          <a:prstGeom prst="rect">
            <a:avLst/>
          </a:prstGeom>
          <a:noFill/>
          <a:ln/>
        </p:spPr>
        <p:txBody>
          <a:bodyPr wrap="none" lIns="0" tIns="0" rIns="0" bIns="0" rtlCol="0" anchor="t"/>
          <a:lstStyle/>
          <a:p>
            <a:pPr algn="l" indent="0" marL="0">
              <a:lnSpc>
                <a:spcPts val="2050"/>
              </a:lnSpc>
              <a:buNone/>
            </a:pPr>
            <a:r>
              <a:rPr lang="en-US" sz="1600" b="1" dirty="0">
                <a:solidFill>
                  <a:srgbClr val="333F70"/>
                </a:solidFill>
                <a:latin typeface="Unbounded Bold" pitchFamily="34" charset="0"/>
                <a:ea typeface="Unbounded Bold" pitchFamily="34" charset="-122"/>
                <a:cs typeface="Unbounded Bold" pitchFamily="34" charset="-120"/>
              </a:rPr>
              <a:t>Impact Investment</a:t>
            </a:r>
            <a:endParaRPr lang="en-US" sz="1600" dirty="0"/>
          </a:p>
        </p:txBody>
      </p:sp>
      <p:sp>
        <p:nvSpPr>
          <p:cNvPr id="15" name="Text 11"/>
          <p:cNvSpPr/>
          <p:nvPr/>
        </p:nvSpPr>
        <p:spPr>
          <a:xfrm>
            <a:off x="7575947" y="3242786"/>
            <a:ext cx="6151721" cy="1235273"/>
          </a:xfrm>
          <a:prstGeom prst="rect">
            <a:avLst/>
          </a:prstGeom>
          <a:noFill/>
          <a:ln/>
        </p:spPr>
        <p:txBody>
          <a:bodyPr wrap="square" lIns="0" tIns="0" rIns="0" bIns="0" rtlCol="0" anchor="t"/>
          <a:lstStyle/>
          <a:p>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Patient equity, social impact bonds, development finance, and blended finance instruments attract investors seeking measurable social returns alongside financial ones. Understanding investor expectations — including SROI benchmarks and impact reporting standards — is essential for effective engagement.</a:t>
            </a:r>
            <a:endParaRPr lang="en-US" sz="1300" dirty="0"/>
          </a:p>
        </p:txBody>
      </p:sp>
      <p:sp>
        <p:nvSpPr>
          <p:cNvPr id="16" name="Shape 12"/>
          <p:cNvSpPr/>
          <p:nvPr/>
        </p:nvSpPr>
        <p:spPr>
          <a:xfrm>
            <a:off x="712351" y="4809530"/>
            <a:ext cx="6532126" cy="2932390"/>
          </a:xfrm>
          <a:prstGeom prst="roundRect">
            <a:avLst>
              <a:gd name="adj" fmla="val 2399"/>
            </a:avLst>
          </a:prstGeom>
          <a:solidFill>
            <a:srgbClr val="FFFFFF"/>
          </a:solidFill>
          <a:ln w="22860">
            <a:solidFill>
              <a:srgbClr val="BCDBD4"/>
            </a:solidFill>
            <a:prstDash val="solid"/>
          </a:ln>
        </p:spPr>
      </p:sp>
      <p:sp>
        <p:nvSpPr>
          <p:cNvPr id="17" name="Shape 13"/>
          <p:cNvSpPr/>
          <p:nvPr/>
        </p:nvSpPr>
        <p:spPr>
          <a:xfrm>
            <a:off x="735211" y="4832390"/>
            <a:ext cx="6486406" cy="502325"/>
          </a:xfrm>
          <a:prstGeom prst="roundRect">
            <a:avLst>
              <a:gd name="adj" fmla="val 8541"/>
            </a:avLst>
          </a:prstGeom>
          <a:solidFill>
            <a:srgbClr val="D6F5EE"/>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52863" y="4954191"/>
            <a:ext cx="251103" cy="251103"/>
          </a:xfrm>
          <a:prstGeom prst="rect">
            <a:avLst/>
          </a:prstGeom>
        </p:spPr>
      </p:pic>
      <p:sp>
        <p:nvSpPr>
          <p:cNvPr id="19" name="Text 14"/>
          <p:cNvSpPr/>
          <p:nvPr/>
        </p:nvSpPr>
        <p:spPr>
          <a:xfrm>
            <a:off x="902613" y="5475923"/>
            <a:ext cx="4829532" cy="261580"/>
          </a:xfrm>
          <a:prstGeom prst="rect">
            <a:avLst/>
          </a:prstGeom>
          <a:noFill/>
          <a:ln/>
        </p:spPr>
        <p:txBody>
          <a:bodyPr wrap="none" lIns="0" tIns="0" rIns="0" bIns="0" rtlCol="0" anchor="t"/>
          <a:lstStyle/>
          <a:p>
            <a:pPr algn="l" indent="0" marL="0">
              <a:lnSpc>
                <a:spcPts val="2050"/>
              </a:lnSpc>
              <a:buNone/>
            </a:pPr>
            <a:r>
              <a:rPr lang="en-US" sz="1600" b="1" dirty="0">
                <a:solidFill>
                  <a:srgbClr val="333F70"/>
                </a:solidFill>
                <a:latin typeface="Unbounded Bold" pitchFamily="34" charset="0"/>
                <a:ea typeface="Unbounded Bold" pitchFamily="34" charset="-122"/>
                <a:cs typeface="Unbounded Bold" pitchFamily="34" charset="-120"/>
              </a:rPr>
              <a:t>Crowdfunding &amp; Community Finance</a:t>
            </a:r>
            <a:endParaRPr lang="en-US" sz="1600" dirty="0"/>
          </a:p>
        </p:txBody>
      </p:sp>
      <p:sp>
        <p:nvSpPr>
          <p:cNvPr id="20" name="Text 15"/>
          <p:cNvSpPr/>
          <p:nvPr/>
        </p:nvSpPr>
        <p:spPr>
          <a:xfrm>
            <a:off x="902613" y="5822275"/>
            <a:ext cx="6151602" cy="988219"/>
          </a:xfrm>
          <a:prstGeom prst="rect">
            <a:avLst/>
          </a:prstGeom>
          <a:noFill/>
          <a:ln/>
        </p:spPr>
        <p:txBody>
          <a:bodyPr wrap="square" lIns="0" tIns="0" rIns="0" bIns="0" rtlCol="0" anchor="t"/>
          <a:lstStyle/>
          <a:p>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Platforms such as Kickstarter, Indiegogo, and Neighbourly enable ventures to raise capital directly from communities, validating demand while building a base of engaged supporters. Community Development Finance Institutions (CDFIs) offer accessible debt for underserved entrepreneurs.</a:t>
            </a:r>
            <a:endParaRPr lang="en-US" sz="1300" dirty="0"/>
          </a:p>
        </p:txBody>
      </p:sp>
      <p:sp>
        <p:nvSpPr>
          <p:cNvPr id="21" name="Shape 16"/>
          <p:cNvSpPr/>
          <p:nvPr/>
        </p:nvSpPr>
        <p:spPr>
          <a:xfrm>
            <a:off x="7385685" y="4809530"/>
            <a:ext cx="6532245" cy="2932390"/>
          </a:xfrm>
          <a:prstGeom prst="roundRect">
            <a:avLst>
              <a:gd name="adj" fmla="val 2399"/>
            </a:avLst>
          </a:prstGeom>
          <a:solidFill>
            <a:srgbClr val="FFFFFF"/>
          </a:solidFill>
          <a:ln w="22860">
            <a:solidFill>
              <a:srgbClr val="BCDBD4"/>
            </a:solidFill>
            <a:prstDash val="solid"/>
          </a:ln>
        </p:spPr>
      </p:sp>
      <p:sp>
        <p:nvSpPr>
          <p:cNvPr id="22" name="Shape 17"/>
          <p:cNvSpPr/>
          <p:nvPr/>
        </p:nvSpPr>
        <p:spPr>
          <a:xfrm>
            <a:off x="7408545" y="4832390"/>
            <a:ext cx="6486525" cy="502325"/>
          </a:xfrm>
          <a:prstGeom prst="roundRect">
            <a:avLst>
              <a:gd name="adj" fmla="val 8541"/>
            </a:avLst>
          </a:prstGeom>
          <a:solidFill>
            <a:srgbClr val="D6F5EE"/>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26197" y="4954191"/>
            <a:ext cx="251103" cy="251103"/>
          </a:xfrm>
          <a:prstGeom prst="rect">
            <a:avLst/>
          </a:prstGeom>
        </p:spPr>
      </p:pic>
      <p:sp>
        <p:nvSpPr>
          <p:cNvPr id="24" name="Text 18"/>
          <p:cNvSpPr/>
          <p:nvPr/>
        </p:nvSpPr>
        <p:spPr>
          <a:xfrm>
            <a:off x="7575947" y="5475923"/>
            <a:ext cx="2437448" cy="261580"/>
          </a:xfrm>
          <a:prstGeom prst="rect">
            <a:avLst/>
          </a:prstGeom>
          <a:noFill/>
          <a:ln/>
        </p:spPr>
        <p:txBody>
          <a:bodyPr wrap="none" lIns="0" tIns="0" rIns="0" bIns="0" rtlCol="0" anchor="t"/>
          <a:lstStyle/>
          <a:p>
            <a:pPr algn="l" indent="0" marL="0">
              <a:lnSpc>
                <a:spcPts val="2050"/>
              </a:lnSpc>
              <a:buNone/>
            </a:pPr>
            <a:r>
              <a:rPr lang="en-US" sz="1600" b="1" dirty="0">
                <a:solidFill>
                  <a:srgbClr val="333F70"/>
                </a:solidFill>
                <a:latin typeface="Unbounded Bold" pitchFamily="34" charset="0"/>
                <a:ea typeface="Unbounded Bold" pitchFamily="34" charset="-122"/>
                <a:cs typeface="Unbounded Bold" pitchFamily="34" charset="-120"/>
              </a:rPr>
              <a:t>Scaling Strategies</a:t>
            </a:r>
            <a:endParaRPr lang="en-US" sz="1600" dirty="0"/>
          </a:p>
        </p:txBody>
      </p:sp>
      <p:sp>
        <p:nvSpPr>
          <p:cNvPr id="25" name="Text 19"/>
          <p:cNvSpPr/>
          <p:nvPr/>
        </p:nvSpPr>
        <p:spPr>
          <a:xfrm>
            <a:off x="7575947" y="5822275"/>
            <a:ext cx="6151721" cy="1729383"/>
          </a:xfrm>
          <a:prstGeom prst="rect">
            <a:avLst/>
          </a:prstGeom>
          <a:noFill/>
          <a:ln/>
        </p:spPr>
        <p:txBody>
          <a:bodyPr wrap="square" lIns="0" tIns="0" rIns="0" bIns="0" rtlCol="0" anchor="t"/>
          <a:lstStyle/>
          <a:p>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Scaling is not simply growing larger — it is about deepening or broadening impact. Strategies include </a:t>
            </a:r>
            <a:pPr algn="l" indent="0" marL="0">
              <a:lnSpc>
                <a:spcPts val="1900"/>
              </a:lnSpc>
              <a:buNone/>
            </a:pPr>
            <a:r>
              <a:rPr lang="en-US" sz="1300" b="1" dirty="0">
                <a:solidFill>
                  <a:srgbClr val="333F70"/>
                </a:solidFill>
                <a:latin typeface="Open Sans" pitchFamily="34" charset="0"/>
                <a:ea typeface="Open Sans" pitchFamily="34" charset="-122"/>
                <a:cs typeface="Open Sans" pitchFamily="34" charset="-120"/>
              </a:rPr>
              <a:t>organic growth</a:t>
            </a:r>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 </a:t>
            </a:r>
            <a:pPr algn="l" indent="0" marL="0">
              <a:lnSpc>
                <a:spcPts val="1900"/>
              </a:lnSpc>
              <a:buNone/>
            </a:pPr>
            <a:r>
              <a:rPr lang="en-US" sz="1300" b="1" dirty="0">
                <a:solidFill>
                  <a:srgbClr val="333F70"/>
                </a:solidFill>
                <a:latin typeface="Open Sans" pitchFamily="34" charset="0"/>
                <a:ea typeface="Open Sans" pitchFamily="34" charset="-122"/>
                <a:cs typeface="Open Sans" pitchFamily="34" charset="-120"/>
              </a:rPr>
              <a:t>replication</a:t>
            </a:r>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 (franchising the model), </a:t>
            </a:r>
            <a:pPr algn="l" indent="0" marL="0">
              <a:lnSpc>
                <a:spcPts val="1900"/>
              </a:lnSpc>
              <a:buNone/>
            </a:pPr>
            <a:r>
              <a:rPr lang="en-US" sz="1300" b="1" dirty="0">
                <a:solidFill>
                  <a:srgbClr val="333F70"/>
                </a:solidFill>
                <a:latin typeface="Open Sans" pitchFamily="34" charset="0"/>
                <a:ea typeface="Open Sans" pitchFamily="34" charset="-122"/>
                <a:cs typeface="Open Sans" pitchFamily="34" charset="-120"/>
              </a:rPr>
              <a:t>partnerships</a:t>
            </a:r>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 (leveraging others' distribution), and </a:t>
            </a:r>
            <a:pPr algn="l" indent="0" marL="0">
              <a:lnSpc>
                <a:spcPts val="1900"/>
              </a:lnSpc>
              <a:buNone/>
            </a:pPr>
            <a:r>
              <a:rPr lang="en-US" sz="1300" b="1" dirty="0">
                <a:solidFill>
                  <a:srgbClr val="333F70"/>
                </a:solidFill>
                <a:latin typeface="Open Sans" pitchFamily="34" charset="0"/>
                <a:ea typeface="Open Sans" pitchFamily="34" charset="-122"/>
                <a:cs typeface="Open Sans" pitchFamily="34" charset="-120"/>
              </a:rPr>
              <a:t>policy influence</a:t>
            </a:r>
            <a:pPr algn="l" indent="0" marL="0">
              <a:lnSpc>
                <a:spcPts val="1900"/>
              </a:lnSpc>
              <a:buNone/>
            </a:pPr>
            <a:r>
              <a:rPr lang="en-US" sz="1300" dirty="0">
                <a:solidFill>
                  <a:srgbClr val="333F70"/>
                </a:solidFill>
                <a:latin typeface="Open Sans" pitchFamily="34" charset="0"/>
                <a:ea typeface="Open Sans" pitchFamily="34" charset="-122"/>
                <a:cs typeface="Open Sans" pitchFamily="34" charset="-120"/>
              </a:rPr>
              <a:t> (systemic change). Each carries different capital requirements, risk profiles, and governance implications. Measuring ROI in social ventures requires integrating financial returns with social value metrics such as SROI and cost-per-beneficiary analysis.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446014" y="423148"/>
            <a:ext cx="592455" cy="255984"/>
          </a:xfrm>
          <a:prstGeom prst="roundRect">
            <a:avLst>
              <a:gd name="adj" fmla="val 19539"/>
            </a:avLst>
          </a:prstGeom>
          <a:solidFill>
            <a:srgbClr val="D6F5EE"/>
          </a:solidFill>
          <a:ln/>
        </p:spPr>
      </p:sp>
      <p:sp>
        <p:nvSpPr>
          <p:cNvPr id="3" name="Text 1"/>
          <p:cNvSpPr/>
          <p:nvPr/>
        </p:nvSpPr>
        <p:spPr>
          <a:xfrm>
            <a:off x="1535311" y="467797"/>
            <a:ext cx="413861" cy="166688"/>
          </a:xfrm>
          <a:prstGeom prst="rect">
            <a:avLst/>
          </a:prstGeom>
          <a:noFill/>
          <a:ln/>
        </p:spPr>
        <p:txBody>
          <a:bodyPr wrap="none" lIns="0" tIns="0" rIns="0" bIns="0" rtlCol="0" anchor="t"/>
          <a:lstStyle/>
          <a:p>
            <a:pPr algn="l" indent="0" marL="0">
              <a:lnSpc>
                <a:spcPts val="1300"/>
              </a:lnSpc>
              <a:buNone/>
            </a:pPr>
            <a:r>
              <a:rPr lang="en-US" sz="900" dirty="0">
                <a:solidFill>
                  <a:srgbClr val="333F70"/>
                </a:solidFill>
                <a:latin typeface="Open Sans" pitchFamily="34" charset="0"/>
                <a:ea typeface="Open Sans" pitchFamily="34" charset="-122"/>
                <a:cs typeface="Open Sans" pitchFamily="34" charset="-120"/>
              </a:rPr>
              <a:t>WEEK 8</a:t>
            </a:r>
            <a:endParaRPr lang="en-US" sz="900" dirty="0"/>
          </a:p>
        </p:txBody>
      </p:sp>
      <p:sp>
        <p:nvSpPr>
          <p:cNvPr id="4" name="Text 2"/>
          <p:cNvSpPr/>
          <p:nvPr/>
        </p:nvSpPr>
        <p:spPr>
          <a:xfrm>
            <a:off x="1446014" y="723781"/>
            <a:ext cx="11738253" cy="930354"/>
          </a:xfrm>
          <a:prstGeom prst="rect">
            <a:avLst/>
          </a:prstGeom>
          <a:noFill/>
          <a:ln/>
        </p:spPr>
        <p:txBody>
          <a:bodyPr wrap="square" lIns="0" tIns="0" rIns="0" bIns="0" rtlCol="0" anchor="t"/>
          <a:lstStyle/>
          <a:p>
            <a:pPr algn="l" indent="0" marL="0">
              <a:lnSpc>
                <a:spcPts val="3650"/>
              </a:lnSpc>
              <a:buNone/>
            </a:pPr>
            <a:r>
              <a:rPr lang="en-US" sz="2900" b="1" dirty="0">
                <a:solidFill>
                  <a:srgbClr val="333F70"/>
                </a:solidFill>
                <a:latin typeface="Unbounded Bold" pitchFamily="34" charset="0"/>
                <a:ea typeface="Unbounded Bold" pitchFamily="34" charset="-122"/>
                <a:cs typeface="Unbounded Bold" pitchFamily="34" charset="-120"/>
              </a:rPr>
              <a:t>Measuring, Communicating &amp; Marketing Social Impact</a:t>
            </a:r>
            <a:endParaRPr lang="en-US" sz="2900" dirty="0"/>
          </a:p>
        </p:txBody>
      </p:sp>
      <p:sp>
        <p:nvSpPr>
          <p:cNvPr id="5" name="Text 3"/>
          <p:cNvSpPr/>
          <p:nvPr/>
        </p:nvSpPr>
        <p:spPr>
          <a:xfrm>
            <a:off x="1446014" y="1821537"/>
            <a:ext cx="11738253" cy="416719"/>
          </a:xfrm>
          <a:prstGeom prst="rect">
            <a:avLst/>
          </a:prstGeom>
          <a:noFill/>
          <a:ln/>
        </p:spPr>
        <p:txBody>
          <a:bodyPr wrap="square" lIns="0" tIns="0" rIns="0" bIns="0" rtlCol="0" anchor="t"/>
          <a:lstStyle/>
          <a:p>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Impact without evidence is a claim. Evidence without communication is a missed opportunity. This final week equips students to define, measure, narrate, and amplify the social value their ventures create — across stakeholder groups and digital channels.</a:t>
            </a:r>
            <a:endParaRPr lang="en-US" sz="1150" dirty="0"/>
          </a:p>
        </p:txBody>
      </p:sp>
      <p:sp>
        <p:nvSpPr>
          <p:cNvPr id="6" name="Text 4"/>
          <p:cNvSpPr/>
          <p:nvPr/>
        </p:nvSpPr>
        <p:spPr>
          <a:xfrm>
            <a:off x="1446014" y="2475309"/>
            <a:ext cx="4153019" cy="232529"/>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Defining &amp; Measuring Social Impact</a:t>
            </a:r>
            <a:endParaRPr lang="en-US" sz="1450" dirty="0"/>
          </a:p>
        </p:txBody>
      </p:sp>
      <p:sp>
        <p:nvSpPr>
          <p:cNvPr id="7" name="Text 5"/>
          <p:cNvSpPr/>
          <p:nvPr/>
        </p:nvSpPr>
        <p:spPr>
          <a:xfrm>
            <a:off x="1446014" y="2819400"/>
            <a:ext cx="5687497" cy="625078"/>
          </a:xfrm>
          <a:prstGeom prst="rect">
            <a:avLst/>
          </a:prstGeom>
          <a:noFill/>
          <a:ln/>
        </p:spPr>
        <p:txBody>
          <a:bodyPr wrap="square" lIns="0" tIns="0" rIns="0" bIns="0" rtlCol="0" anchor="t"/>
          <a:lstStyle/>
          <a:p>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Social impact measurement begins with a clear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theory of change</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 a logical map linking inputs and activities to outputs, outcomes, and ultimately long-term impact. Key frameworks include:</a:t>
            </a:r>
            <a:endParaRPr lang="en-US" sz="1150" dirty="0"/>
          </a:p>
        </p:txBody>
      </p:sp>
      <p:sp>
        <p:nvSpPr>
          <p:cNvPr id="8" name="Text 6"/>
          <p:cNvSpPr/>
          <p:nvPr/>
        </p:nvSpPr>
        <p:spPr>
          <a:xfrm>
            <a:off x="1446014" y="3544848"/>
            <a:ext cx="5687497" cy="1575673"/>
          </a:xfrm>
          <a:prstGeom prst="rect">
            <a:avLst/>
          </a:prstGeom>
          <a:noFill/>
          <a:ln/>
        </p:spPr>
        <p:txBody>
          <a:bodyPr wrap="square" lIns="0" tIns="0" rIns="0" bIns="0" rtlCol="0" anchor="t"/>
          <a:lstStyle/>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SROI (Social Return on Investment):</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Monetises social value to produce a ratio of social return per pound/dollar invested</a:t>
            </a:r>
            <a:endParaRPr lang="en-US" sz="1150" dirty="0"/>
          </a:p>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Theory of Change:</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Articulates the causal logic of how interventions produce change</a:t>
            </a:r>
            <a:endParaRPr lang="en-US" sz="1150" dirty="0"/>
          </a:p>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Lean Data:</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Cost-effective mobile-based beneficiary feedback developed by Acumen</a:t>
            </a:r>
            <a:endParaRPr lang="en-US" sz="1150" dirty="0"/>
          </a:p>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IRIS+ (GIIN):</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Standardised impact metrics for impact investors and enterprises</a:t>
            </a:r>
            <a:endParaRPr lang="en-US" sz="1150" dirty="0"/>
          </a:p>
        </p:txBody>
      </p:sp>
      <p:sp>
        <p:nvSpPr>
          <p:cNvPr id="9" name="Text 7"/>
          <p:cNvSpPr/>
          <p:nvPr/>
        </p:nvSpPr>
        <p:spPr>
          <a:xfrm>
            <a:off x="1446014" y="5220891"/>
            <a:ext cx="5687497" cy="625078"/>
          </a:xfrm>
          <a:prstGeom prst="rect">
            <a:avLst/>
          </a:prstGeom>
          <a:noFill/>
          <a:ln/>
        </p:spPr>
        <p:txBody>
          <a:bodyPr wrap="square" lIns="0" tIns="0" rIns="0" bIns="0" rtlCol="0" anchor="t"/>
          <a:lstStyle/>
          <a:p>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KPI selection should be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relevant</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(linked to mission),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measurable</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(data collectible at reasonable cost),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attributable</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(change linked to your intervention), and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comparable</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(benchmarkable against sector norms).</a:t>
            </a:r>
            <a:endParaRPr lang="en-US" sz="1150" dirty="0"/>
          </a:p>
        </p:txBody>
      </p:sp>
      <p:sp>
        <p:nvSpPr>
          <p:cNvPr id="10" name="Text 8"/>
          <p:cNvSpPr/>
          <p:nvPr/>
        </p:nvSpPr>
        <p:spPr>
          <a:xfrm>
            <a:off x="1446014" y="5957530"/>
            <a:ext cx="4684633" cy="232529"/>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Communicating Impact to Stakeholders</a:t>
            </a:r>
            <a:endParaRPr lang="en-US" sz="1450" dirty="0"/>
          </a:p>
        </p:txBody>
      </p:sp>
      <p:sp>
        <p:nvSpPr>
          <p:cNvPr id="11" name="Text 9"/>
          <p:cNvSpPr/>
          <p:nvPr/>
        </p:nvSpPr>
        <p:spPr>
          <a:xfrm>
            <a:off x="1446014" y="6301621"/>
            <a:ext cx="5687497" cy="1041797"/>
          </a:xfrm>
          <a:prstGeom prst="rect">
            <a:avLst/>
          </a:prstGeom>
          <a:noFill/>
          <a:ln/>
        </p:spPr>
        <p:txBody>
          <a:bodyPr wrap="square" lIns="0" tIns="0" rIns="0" bIns="0" rtlCol="0" anchor="t"/>
          <a:lstStyle/>
          <a:p>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Different audiences require different narratives: funders want evidence of cost-effectiveness; beneficiaries want to see their voices reflected; the public wants stories of change.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Stakeholder mapping</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and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audience-specific impact reports</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 supported by authentic storytelling, photography, and testimonials — build trust and deepen engagement.</a:t>
            </a:r>
            <a:endParaRPr lang="en-US" sz="1150" dirty="0"/>
          </a:p>
        </p:txBody>
      </p:sp>
      <p:sp>
        <p:nvSpPr>
          <p:cNvPr id="12" name="Text 10"/>
          <p:cNvSpPr/>
          <p:nvPr/>
        </p:nvSpPr>
        <p:spPr>
          <a:xfrm>
            <a:off x="7504271" y="2475309"/>
            <a:ext cx="3893225" cy="232529"/>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Digital Marketing &amp; AI Integration</a:t>
            </a:r>
            <a:endParaRPr lang="en-US" sz="1450" dirty="0"/>
          </a:p>
        </p:txBody>
      </p:sp>
      <p:sp>
        <p:nvSpPr>
          <p:cNvPr id="13" name="Text 11"/>
          <p:cNvSpPr/>
          <p:nvPr/>
        </p:nvSpPr>
        <p:spPr>
          <a:xfrm>
            <a:off x="7504271" y="2819400"/>
            <a:ext cx="5687497" cy="416719"/>
          </a:xfrm>
          <a:prstGeom prst="rect">
            <a:avLst/>
          </a:prstGeom>
          <a:noFill/>
          <a:ln/>
        </p:spPr>
        <p:txBody>
          <a:bodyPr wrap="square" lIns="0" tIns="0" rIns="0" bIns="0" rtlCol="0" anchor="t"/>
          <a:lstStyle/>
          <a:p>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Social enterprises increasingly leverage digital tools to extend their reach and deepen their impact communication. Effective approaches include:</a:t>
            </a:r>
            <a:endParaRPr lang="en-US" sz="1150" dirty="0"/>
          </a:p>
        </p:txBody>
      </p:sp>
      <p:sp>
        <p:nvSpPr>
          <p:cNvPr id="14" name="Text 12"/>
          <p:cNvSpPr/>
          <p:nvPr/>
        </p:nvSpPr>
        <p:spPr>
          <a:xfrm>
            <a:off x="7504271" y="3336488"/>
            <a:ext cx="5687497" cy="1575673"/>
          </a:xfrm>
          <a:prstGeom prst="rect">
            <a:avLst/>
          </a:prstGeom>
          <a:noFill/>
          <a:ln/>
        </p:spPr>
        <p:txBody>
          <a:bodyPr wrap="square" lIns="0" tIns="0" rIns="0" bIns="0" rtlCol="0" anchor="t"/>
          <a:lstStyle/>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Content marketing:</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Blogs, impact reports, and video case studies that educate and inspire</a:t>
            </a:r>
            <a:endParaRPr lang="en-US" sz="1150" dirty="0"/>
          </a:p>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Social media advocacy:</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Community-led storytelling that amplifies authentic voices</a:t>
            </a:r>
            <a:endParaRPr lang="en-US" sz="1150" dirty="0"/>
          </a:p>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Email campaigns:</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Segmented outreach to donors, partners, and beneficiaries</a:t>
            </a:r>
            <a:endParaRPr lang="en-US" sz="1150" dirty="0"/>
          </a:p>
          <a:p>
            <a:pPr algn="l" marL="342900" indent="-342900">
              <a:lnSpc>
                <a:spcPts val="1600"/>
              </a:lnSpc>
              <a:buSzPct val="100000"/>
              <a:buChar char="•"/>
            </a:pPr>
            <a:r>
              <a:rPr lang="en-US" sz="1150" b="1" dirty="0">
                <a:solidFill>
                  <a:srgbClr val="333F70"/>
                </a:solidFill>
                <a:latin typeface="Open Sans" pitchFamily="34" charset="0"/>
                <a:ea typeface="Open Sans" pitchFamily="34" charset="-122"/>
                <a:cs typeface="Open Sans" pitchFamily="34" charset="-120"/>
              </a:rPr>
              <a:t>AI-powered tools:</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Sentiment analysis of beneficiary feedback, chatbot-assisted service delivery, and data visualisation for impact dashboards</a:t>
            </a:r>
            <a:endParaRPr lang="en-US" sz="1150" dirty="0"/>
          </a:p>
        </p:txBody>
      </p:sp>
      <p:sp>
        <p:nvSpPr>
          <p:cNvPr id="15" name="Shape 13"/>
          <p:cNvSpPr/>
          <p:nvPr/>
        </p:nvSpPr>
        <p:spPr>
          <a:xfrm>
            <a:off x="7504271" y="5037653"/>
            <a:ext cx="5687497" cy="1156930"/>
          </a:xfrm>
          <a:prstGeom prst="roundRect">
            <a:avLst>
              <a:gd name="adj" fmla="val 5404"/>
            </a:avLst>
          </a:prstGeom>
          <a:solidFill>
            <a:srgbClr val="B6FCB8"/>
          </a:solidFill>
          <a:ln/>
        </p:spPr>
      </p:sp>
      <p:pic>
        <p:nvPicPr>
          <p:cNvPr id="16" name="Image 0" descr="preencoded.png">    </p:cNvPr>
          <p:cNvPicPr>
            <a:picLocks noChangeAspect="1"/>
          </p:cNvPicPr>
          <p:nvPr/>
        </p:nvPicPr>
        <p:blipFill>
          <a:blip r:embed="rId1"/>
          <a:stretch>
            <a:fillRect/>
          </a:stretch>
        </p:blipFill>
        <p:spPr>
          <a:xfrm>
            <a:off x="7653099" y="5253395"/>
            <a:ext cx="185976" cy="148828"/>
          </a:xfrm>
          <a:prstGeom prst="rect">
            <a:avLst/>
          </a:prstGeom>
        </p:spPr>
      </p:pic>
      <p:sp>
        <p:nvSpPr>
          <p:cNvPr id="17" name="Text 14"/>
          <p:cNvSpPr/>
          <p:nvPr/>
        </p:nvSpPr>
        <p:spPr>
          <a:xfrm>
            <a:off x="7987903" y="5186363"/>
            <a:ext cx="5055037" cy="833438"/>
          </a:xfrm>
          <a:prstGeom prst="rect">
            <a:avLst/>
          </a:prstGeom>
          <a:noFill/>
          <a:ln/>
        </p:spPr>
        <p:txBody>
          <a:bodyPr wrap="square" lIns="0" tIns="0" rIns="0" bIns="0" rtlCol="0" anchor="t"/>
          <a:lstStyle/>
          <a:p>
            <a:pPr algn="l" indent="0" marL="0">
              <a:lnSpc>
                <a:spcPts val="1600"/>
              </a:lnSpc>
              <a:buNone/>
            </a:pPr>
            <a:r>
              <a:rPr lang="en-US" sz="1150" dirty="0">
                <a:solidFill>
                  <a:srgbClr val="000000"/>
                </a:solidFill>
                <a:latin typeface="Open Sans" pitchFamily="34" charset="0"/>
                <a:ea typeface="Open Sans" pitchFamily="34" charset="-122"/>
                <a:cs typeface="Open Sans" pitchFamily="34" charset="-120"/>
              </a:rPr>
              <a:t>Ventures that systematically measure and communicate their impact consistently outperform peers in fundraising, partnership development, and talent acquisition — making impact measurement a strategic asset, not just a reporting obligation.</a:t>
            </a:r>
            <a:endParaRPr lang="en-US" sz="1150" dirty="0"/>
          </a:p>
        </p:txBody>
      </p:sp>
      <p:sp>
        <p:nvSpPr>
          <p:cNvPr id="18" name="Text 15"/>
          <p:cNvSpPr/>
          <p:nvPr/>
        </p:nvSpPr>
        <p:spPr>
          <a:xfrm>
            <a:off x="7504271" y="6320076"/>
            <a:ext cx="3588306" cy="232529"/>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Assessment &amp; Exam Structure</a:t>
            </a:r>
            <a:endParaRPr lang="en-US" sz="1450" dirty="0"/>
          </a:p>
        </p:txBody>
      </p:sp>
      <p:sp>
        <p:nvSpPr>
          <p:cNvPr id="19" name="Text 16"/>
          <p:cNvSpPr/>
          <p:nvPr/>
        </p:nvSpPr>
        <p:spPr>
          <a:xfrm>
            <a:off x="7504271" y="6664166"/>
            <a:ext cx="5687497" cy="1041797"/>
          </a:xfrm>
          <a:prstGeom prst="rect">
            <a:avLst/>
          </a:prstGeom>
          <a:noFill/>
          <a:ln/>
        </p:spPr>
        <p:txBody>
          <a:bodyPr wrap="square" lIns="0" tIns="0" rIns="0" bIns="0" rtlCol="0" anchor="t"/>
          <a:lstStyle/>
          <a:p>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The course is assessed through a combination of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continuous assessment (25%)</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 comprising weekly MCQ self-assessments and applied exercises — and a </a:t>
            </a:r>
            <a:pPr algn="l" indent="0" marL="0">
              <a:lnSpc>
                <a:spcPts val="1600"/>
              </a:lnSpc>
              <a:buNone/>
            </a:pPr>
            <a:r>
              <a:rPr lang="en-US" sz="1150" b="1" dirty="0">
                <a:solidFill>
                  <a:srgbClr val="333F70"/>
                </a:solidFill>
                <a:latin typeface="Open Sans" pitchFamily="34" charset="0"/>
                <a:ea typeface="Open Sans" pitchFamily="34" charset="-122"/>
                <a:cs typeface="Open Sans" pitchFamily="34" charset="-120"/>
              </a:rPr>
              <a:t>final examination (75%)</a:t>
            </a:r>
            <a:pPr algn="l" indent="0" marL="0">
              <a:lnSpc>
                <a:spcPts val="1600"/>
              </a:lnSpc>
              <a:buNone/>
            </a:pPr>
            <a:r>
              <a:rPr lang="en-US" sz="1150" dirty="0">
                <a:solidFill>
                  <a:srgbClr val="333F70"/>
                </a:solidFill>
                <a:latin typeface="Open Sans" pitchFamily="34" charset="0"/>
                <a:ea typeface="Open Sans" pitchFamily="34" charset="-122"/>
                <a:cs typeface="Open Sans" pitchFamily="34" charset="-120"/>
              </a:rPr>
              <a:t> that tests integrative understanding across all eight modules. Students are expected to apply frameworks critically, drawing on case studies and real-world examples in their responses.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2026-04-27T08:04:43Z</dcterms:created>
  <dcterms:modified xsi:type="dcterms:W3CDTF">2026-04-27T08:04:43Z</dcterms:modified>
</cp:coreProperties>
</file>